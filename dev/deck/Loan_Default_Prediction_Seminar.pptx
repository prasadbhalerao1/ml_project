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71" r:id="rId2"/>
    <p:sldId id="272" r:id="rId3"/>
    <p:sldId id="273" r:id="rId4"/>
    <p:sldId id="274"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p:cViewPr varScale="1">
        <p:scale>
          <a:sx n="78" d="100"/>
          <a:sy n="78" d="100"/>
        </p:scale>
        <p:origin x="878"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ad Bhalerao" userId="fe1392aba35d8056" providerId="LiveId" clId="{2A9320A3-695D-43CA-BC95-A12F93437CE2}"/>
    <pc:docChg chg="modSld">
      <pc:chgData name="Prasad Bhalerao" userId="fe1392aba35d8056" providerId="LiveId" clId="{2A9320A3-695D-43CA-BC95-A12F93437CE2}" dt="2026-10-14T03:14:59.156" v="1" actId="1076"/>
      <pc:docMkLst>
        <pc:docMk/>
      </pc:docMkLst>
      <pc:sldChg chg="modSp mod">
        <pc:chgData name="Prasad Bhalerao" userId="fe1392aba35d8056" providerId="LiveId" clId="{2A9320A3-695D-43CA-BC95-A12F93437CE2}" dt="2026-10-14T03:14:59.156" v="1" actId="1076"/>
        <pc:sldMkLst>
          <pc:docMk/>
          <pc:sldMk cId="3602338430" sldId="271"/>
        </pc:sldMkLst>
        <pc:spChg chg="mod">
          <ac:chgData name="Prasad Bhalerao" userId="fe1392aba35d8056" providerId="LiveId" clId="{2A9320A3-695D-43CA-BC95-A12F93437CE2}" dt="2026-10-14T03:14:59.156" v="1" actId="1076"/>
          <ac:spMkLst>
            <pc:docMk/>
            <pc:sldMk cId="3602338430" sldId="271"/>
            <ac:spMk id="21" creationId="{51C74F7D-56E3-4E55-95F0-C0D8C8C11BE8}"/>
          </ac:spMkLst>
        </pc:spChg>
        <pc:spChg chg="mod">
          <ac:chgData name="Prasad Bhalerao" userId="fe1392aba35d8056" providerId="LiveId" clId="{2A9320A3-695D-43CA-BC95-A12F93437CE2}" dt="2026-10-14T03:14:54.751" v="0" actId="1076"/>
          <ac:spMkLst>
            <pc:docMk/>
            <pc:sldMk cId="3602338430" sldId="271"/>
            <ac:spMk id="25" creationId="{A1429130-40B3-459E-8B41-60933F69369B}"/>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Borrowers</c:v>
                </c:pt>
              </c:strCache>
            </c:strRef>
          </c:tx>
          <c:invertIfNegative val="1"/>
          <c:dPt>
            <c:idx val="0"/>
            <c:invertIfNegative val="1"/>
            <c:bubble3D val="0"/>
            <c:spPr>
              <a:solidFill>
                <a:srgbClr val="B5483F"/>
              </a:solidFill>
            </c:spPr>
            <c:extLst>
              <c:ext xmlns:c16="http://schemas.microsoft.com/office/drawing/2014/chart" uri="{C3380CC4-5D6E-409C-BE32-E72D297353CC}">
                <c16:uniqueId val="{00000001-3BA9-4D64-8590-315DDD5359B7}"/>
              </c:ext>
            </c:extLst>
          </c:dPt>
          <c:dPt>
            <c:idx val="1"/>
            <c:invertIfNegative val="1"/>
            <c:bubble3D val="0"/>
            <c:spPr>
              <a:solidFill>
                <a:srgbClr val="2F5D8C"/>
              </a:solidFill>
            </c:spPr>
            <c:extLst>
              <c:ext xmlns:c16="http://schemas.microsoft.com/office/drawing/2014/chart" uri="{C3380CC4-5D6E-409C-BE32-E72D297353CC}">
                <c16:uniqueId val="{00000003-3BA9-4D64-8590-315DDD5359B7}"/>
              </c:ext>
            </c:extLst>
          </c:dPt>
          <c:dLbls>
            <c:dLbl>
              <c:idx val="0"/>
              <c:tx>
                <c:rich>
                  <a:bodyPr/>
                  <a:lstStyle/>
                  <a:p>
                    <a:r>
                      <a:rPr lang="en-IN" sz="1300" b="1" i="0">
                        <a:solidFill>
                          <a:srgbClr val="1A1A1A"/>
                        </a:solidFill>
                        <a:latin typeface="Times New Roman"/>
                      </a:rPr>
                      <a:t>10,026</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BA9-4D64-8590-315DDD5359B7}"/>
                </c:ext>
              </c:extLst>
            </c:dLbl>
            <c:dLbl>
              <c:idx val="1"/>
              <c:tx>
                <c:rich>
                  <a:bodyPr/>
                  <a:lstStyle/>
                  <a:p>
                    <a:r>
                      <a:rPr lang="en-IN" sz="1300" b="1" i="0">
                        <a:solidFill>
                          <a:srgbClr val="1A1A1A"/>
                        </a:solidFill>
                        <a:latin typeface="Times New Roman"/>
                      </a:rPr>
                      <a:t>139,974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BA9-4D64-8590-315DDD5359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Delinquent</c:v>
                </c:pt>
                <c:pt idx="1">
                  <c:v>Not delinquent</c:v>
                </c:pt>
              </c:strCache>
            </c:strRef>
          </c:cat>
          <c:val>
            <c:numRef>
              <c:f>Sheet1!$B$2:$B$3</c:f>
              <c:numCache>
                <c:formatCode>General</c:formatCode>
                <c:ptCount val="2"/>
                <c:pt idx="0">
                  <c:v>10026</c:v>
                </c:pt>
                <c:pt idx="1">
                  <c:v>139974</c:v>
                </c:pt>
              </c:numCache>
            </c:numRef>
          </c:val>
          <c:extLst>
            <c:ext xmlns:c16="http://schemas.microsoft.com/office/drawing/2014/chart" uri="{C3380CC4-5D6E-409C-BE32-E72D297353CC}">
              <c16:uniqueId val="{00000004-3BA9-4D64-8590-315DDD5359B7}"/>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9D9D9"/>
            </a:solidFill>
          </a:ln>
        </c:spPr>
        <c:txPr>
          <a:bodyPr/>
          <a:lstStyle/>
          <a:p>
            <a:pPr>
              <a:defRPr sz="1300"/>
            </a:pPr>
            <a:endParaRPr lang="en-US"/>
          </a:p>
        </c:txPr>
        <c:crossAx val="-2113994440"/>
        <c:crosses val="autoZero"/>
        <c:auto val="1"/>
        <c:lblAlgn val="ctr"/>
        <c:lblOffset val="100"/>
        <c:noMultiLvlLbl val="0"/>
      </c:catAx>
      <c:valAx>
        <c:axId val="-2113994440"/>
        <c:scaling>
          <c:orientation val="minMax"/>
          <c:max val="175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200">
          <a:solidFill>
            <a:srgbClr val="1A1A1A"/>
          </a:solidFill>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Importance</c:v>
                </c:pt>
              </c:strCache>
            </c:strRef>
          </c:tx>
          <c:invertIfNegative val="1"/>
          <c:dPt>
            <c:idx val="0"/>
            <c:invertIfNegative val="1"/>
            <c:bubble3D val="0"/>
            <c:spPr>
              <a:solidFill>
                <a:srgbClr val="2F5D8C"/>
              </a:solidFill>
            </c:spPr>
            <c:extLst>
              <c:ext xmlns:c16="http://schemas.microsoft.com/office/drawing/2014/chart" uri="{C3380CC4-5D6E-409C-BE32-E72D297353CC}">
                <c16:uniqueId val="{00000001-FA9F-4B53-967B-2F3CC8CDE29D}"/>
              </c:ext>
            </c:extLst>
          </c:dPt>
          <c:dPt>
            <c:idx val="1"/>
            <c:invertIfNegative val="1"/>
            <c:bubble3D val="0"/>
            <c:spPr>
              <a:solidFill>
                <a:srgbClr val="2F5D8C"/>
              </a:solidFill>
            </c:spPr>
            <c:extLst>
              <c:ext xmlns:c16="http://schemas.microsoft.com/office/drawing/2014/chart" uri="{C3380CC4-5D6E-409C-BE32-E72D297353CC}">
                <c16:uniqueId val="{00000003-FA9F-4B53-967B-2F3CC8CDE29D}"/>
              </c:ext>
            </c:extLst>
          </c:dPt>
          <c:dPt>
            <c:idx val="2"/>
            <c:invertIfNegative val="1"/>
            <c:bubble3D val="0"/>
            <c:spPr>
              <a:solidFill>
                <a:srgbClr val="2F5D8C"/>
              </a:solidFill>
            </c:spPr>
            <c:extLst>
              <c:ext xmlns:c16="http://schemas.microsoft.com/office/drawing/2014/chart" uri="{C3380CC4-5D6E-409C-BE32-E72D297353CC}">
                <c16:uniqueId val="{00000005-FA9F-4B53-967B-2F3CC8CDE29D}"/>
              </c:ext>
            </c:extLst>
          </c:dPt>
          <c:dPt>
            <c:idx val="3"/>
            <c:invertIfNegative val="1"/>
            <c:bubble3D val="0"/>
            <c:spPr>
              <a:solidFill>
                <a:srgbClr val="2F5D8C"/>
              </a:solidFill>
            </c:spPr>
            <c:extLst>
              <c:ext xmlns:c16="http://schemas.microsoft.com/office/drawing/2014/chart" uri="{C3380CC4-5D6E-409C-BE32-E72D297353CC}">
                <c16:uniqueId val="{00000007-FA9F-4B53-967B-2F3CC8CDE29D}"/>
              </c:ext>
            </c:extLst>
          </c:dPt>
          <c:dPt>
            <c:idx val="4"/>
            <c:invertIfNegative val="1"/>
            <c:bubble3D val="0"/>
            <c:spPr>
              <a:solidFill>
                <a:srgbClr val="2F5D8C"/>
              </a:solidFill>
            </c:spPr>
            <c:extLst>
              <c:ext xmlns:c16="http://schemas.microsoft.com/office/drawing/2014/chart" uri="{C3380CC4-5D6E-409C-BE32-E72D297353CC}">
                <c16:uniqueId val="{00000009-FA9F-4B53-967B-2F3CC8CDE29D}"/>
              </c:ext>
            </c:extLst>
          </c:dPt>
          <c:dPt>
            <c:idx val="5"/>
            <c:invertIfNegative val="1"/>
            <c:bubble3D val="0"/>
            <c:spPr>
              <a:solidFill>
                <a:srgbClr val="B5483F"/>
              </a:solidFill>
            </c:spPr>
            <c:extLst>
              <c:ext xmlns:c16="http://schemas.microsoft.com/office/drawing/2014/chart" uri="{C3380CC4-5D6E-409C-BE32-E72D297353CC}">
                <c16:uniqueId val="{0000000B-FA9F-4B53-967B-2F3CC8CDE29D}"/>
              </c:ext>
            </c:extLst>
          </c:dPt>
          <c:dPt>
            <c:idx val="6"/>
            <c:invertIfNegative val="1"/>
            <c:bubble3D val="0"/>
            <c:spPr>
              <a:solidFill>
                <a:srgbClr val="B5483F"/>
              </a:solidFill>
            </c:spPr>
            <c:extLst>
              <c:ext xmlns:c16="http://schemas.microsoft.com/office/drawing/2014/chart" uri="{C3380CC4-5D6E-409C-BE32-E72D297353CC}">
                <c16:uniqueId val="{0000000D-FA9F-4B53-967B-2F3CC8CDE29D}"/>
              </c:ext>
            </c:extLst>
          </c:dPt>
          <c:dPt>
            <c:idx val="7"/>
            <c:invertIfNegative val="1"/>
            <c:bubble3D val="0"/>
            <c:spPr>
              <a:solidFill>
                <a:srgbClr val="2F5D8C"/>
              </a:solidFill>
            </c:spPr>
            <c:extLst>
              <c:ext xmlns:c16="http://schemas.microsoft.com/office/drawing/2014/chart" uri="{C3380CC4-5D6E-409C-BE32-E72D297353CC}">
                <c16:uniqueId val="{0000000F-FA9F-4B53-967B-2F3CC8CDE29D}"/>
              </c:ext>
            </c:extLst>
          </c:dPt>
          <c:dPt>
            <c:idx val="8"/>
            <c:invertIfNegative val="1"/>
            <c:bubble3D val="0"/>
            <c:spPr>
              <a:solidFill>
                <a:srgbClr val="B5483F"/>
              </a:solidFill>
            </c:spPr>
            <c:extLst>
              <c:ext xmlns:c16="http://schemas.microsoft.com/office/drawing/2014/chart" uri="{C3380CC4-5D6E-409C-BE32-E72D297353CC}">
                <c16:uniqueId val="{00000011-FA9F-4B53-967B-2F3CC8CDE29D}"/>
              </c:ext>
            </c:extLst>
          </c:dPt>
          <c:dLbls>
            <c:numFmt formatCode="0.00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All others</c:v>
                </c:pt>
                <c:pt idx="1">
                  <c:v>Open credit lines</c:v>
                </c:pt>
                <c:pt idx="2">
                  <c:v>Monthly income</c:v>
                </c:pt>
                <c:pt idx="3">
                  <c:v>Age</c:v>
                </c:pt>
                <c:pt idx="4">
                  <c:v>Debt ratio</c:v>
                </c:pt>
                <c:pt idx="5">
                  <c:v>30â€“59 days late</c:v>
                </c:pt>
                <c:pt idx="6">
                  <c:v>60â€“89 days late</c:v>
                </c:pt>
                <c:pt idx="7">
                  <c:v>Credit utilisation</c:v>
                </c:pt>
                <c:pt idx="8">
                  <c:v>90+ days late</c:v>
                </c:pt>
              </c:strCache>
            </c:strRef>
          </c:cat>
          <c:val>
            <c:numRef>
              <c:f>Sheet1!$B$2:$B$10</c:f>
              <c:numCache>
                <c:formatCode>General</c:formatCode>
                <c:ptCount val="9"/>
                <c:pt idx="0">
                  <c:v>5.3916900640812893E-2</c:v>
                </c:pt>
                <c:pt idx="1">
                  <c:v>4.4758186999001894E-2</c:v>
                </c:pt>
                <c:pt idx="2">
                  <c:v>5.3750459393496847E-2</c:v>
                </c:pt>
                <c:pt idx="3">
                  <c:v>5.8093672853690916E-2</c:v>
                </c:pt>
                <c:pt idx="4">
                  <c:v>6.8822466774427618E-2</c:v>
                </c:pt>
                <c:pt idx="5">
                  <c:v>0.10963982284892343</c:v>
                </c:pt>
                <c:pt idx="6">
                  <c:v>0.13614866594300606</c:v>
                </c:pt>
                <c:pt idx="7">
                  <c:v>0.20762865728181926</c:v>
                </c:pt>
                <c:pt idx="8">
                  <c:v>0.26724116726482106</c:v>
                </c:pt>
              </c:numCache>
            </c:numRef>
          </c:val>
          <c:extLst>
            <c:ext xmlns:c16="http://schemas.microsoft.com/office/drawing/2014/chart" uri="{C3380CC4-5D6E-409C-BE32-E72D297353CC}">
              <c16:uniqueId val="{00000012-FA9F-4B53-967B-2F3CC8CDE29D}"/>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9D9D9"/>
            </a:solidFill>
          </a:ln>
        </c:spPr>
        <c:txPr>
          <a:bodyPr/>
          <a:lstStyle/>
          <a:p>
            <a:pPr>
              <a:defRPr sz="1150"/>
            </a:pPr>
            <a:endParaRPr lang="en-US"/>
          </a:p>
        </c:txPr>
        <c:crossAx val="-2113994440"/>
        <c:crosses val="autoZero"/>
        <c:auto val="1"/>
        <c:lblAlgn val="ctr"/>
        <c:lblOffset val="100"/>
        <c:noMultiLvlLbl val="0"/>
      </c:catAx>
      <c:valAx>
        <c:axId val="-2113994440"/>
        <c:scaling>
          <c:orientation val="minMax"/>
          <c:max val="0.32603422406308169"/>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solidFill>
            <a:srgbClr val="1A1A1A"/>
          </a:solidFill>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Precision</c:v>
                </c:pt>
              </c:strCache>
            </c:strRef>
          </c:tx>
          <c:spPr>
            <a:ln w="28575">
              <a:solidFill>
                <a:srgbClr val="B5483F"/>
              </a:solidFill>
            </a:ln>
          </c:spPr>
          <c:marker>
            <c:symbol val="none"/>
          </c:marker>
          <c:xVal>
            <c:numRef>
              <c:f>Sheet1!$A$2:$A$36</c:f>
              <c:numCache>
                <c:formatCode>General</c:formatCode>
                <c:ptCount val="35"/>
                <c:pt idx="0">
                  <c:v>0.02</c:v>
                </c:pt>
                <c:pt idx="1">
                  <c:v>0.04</c:v>
                </c:pt>
                <c:pt idx="2">
                  <c:v>0.06</c:v>
                </c:pt>
                <c:pt idx="3">
                  <c:v>0.08</c:v>
                </c:pt>
                <c:pt idx="4">
                  <c:v>0.1</c:v>
                </c:pt>
                <c:pt idx="5">
                  <c:v>0.12</c:v>
                </c:pt>
                <c:pt idx="6">
                  <c:v>0.14000000000000001</c:v>
                </c:pt>
                <c:pt idx="7">
                  <c:v>0.16</c:v>
                </c:pt>
                <c:pt idx="8">
                  <c:v>0.18</c:v>
                </c:pt>
                <c:pt idx="9">
                  <c:v>0.2</c:v>
                </c:pt>
                <c:pt idx="10">
                  <c:v>0.22</c:v>
                </c:pt>
                <c:pt idx="11">
                  <c:v>0.24</c:v>
                </c:pt>
                <c:pt idx="12">
                  <c:v>0.26</c:v>
                </c:pt>
                <c:pt idx="13">
                  <c:v>0.28000000000000003</c:v>
                </c:pt>
                <c:pt idx="14">
                  <c:v>0.3</c:v>
                </c:pt>
                <c:pt idx="15">
                  <c:v>0.32</c:v>
                </c:pt>
                <c:pt idx="16">
                  <c:v>0.34</c:v>
                </c:pt>
                <c:pt idx="17">
                  <c:v>0.36</c:v>
                </c:pt>
                <c:pt idx="18">
                  <c:v>0.38</c:v>
                </c:pt>
                <c:pt idx="19">
                  <c:v>0.4</c:v>
                </c:pt>
                <c:pt idx="20">
                  <c:v>0.42</c:v>
                </c:pt>
                <c:pt idx="21">
                  <c:v>0.44</c:v>
                </c:pt>
                <c:pt idx="22">
                  <c:v>0.46</c:v>
                </c:pt>
                <c:pt idx="23">
                  <c:v>0.48</c:v>
                </c:pt>
                <c:pt idx="24">
                  <c:v>0.5</c:v>
                </c:pt>
                <c:pt idx="25">
                  <c:v>0.52</c:v>
                </c:pt>
                <c:pt idx="26">
                  <c:v>0.54</c:v>
                </c:pt>
                <c:pt idx="27">
                  <c:v>0.56000000000000005</c:v>
                </c:pt>
                <c:pt idx="28">
                  <c:v>0.57999999999999996</c:v>
                </c:pt>
                <c:pt idx="29">
                  <c:v>0.6</c:v>
                </c:pt>
                <c:pt idx="30">
                  <c:v>0.62</c:v>
                </c:pt>
                <c:pt idx="31">
                  <c:v>0.64</c:v>
                </c:pt>
                <c:pt idx="32">
                  <c:v>0.66</c:v>
                </c:pt>
                <c:pt idx="33">
                  <c:v>0.68</c:v>
                </c:pt>
                <c:pt idx="34">
                  <c:v>0.7</c:v>
                </c:pt>
              </c:numCache>
            </c:numRef>
          </c:xVal>
          <c:yVal>
            <c:numRef>
              <c:f>Sheet1!$B$2:$B$36</c:f>
              <c:numCache>
                <c:formatCode>General</c:formatCode>
                <c:ptCount val="35"/>
                <c:pt idx="0">
                  <c:v>0.11713570981863665</c:v>
                </c:pt>
                <c:pt idx="1">
                  <c:v>0.15871435038478951</c:v>
                </c:pt>
                <c:pt idx="2">
                  <c:v>0.19517754318618041</c:v>
                </c:pt>
                <c:pt idx="3">
                  <c:v>0.22888283378746593</c:v>
                </c:pt>
                <c:pt idx="4">
                  <c:v>0.26103824127101422</c:v>
                </c:pt>
                <c:pt idx="5">
                  <c:v>0.29203925845147222</c:v>
                </c:pt>
                <c:pt idx="6">
                  <c:v>0.31828556936342889</c:v>
                </c:pt>
                <c:pt idx="7">
                  <c:v>0.34228187919463088</c:v>
                </c:pt>
                <c:pt idx="8">
                  <c:v>0.36435643564356435</c:v>
                </c:pt>
                <c:pt idx="9">
                  <c:v>0.38835311572700298</c:v>
                </c:pt>
                <c:pt idx="10">
                  <c:v>0.40786240786240785</c:v>
                </c:pt>
                <c:pt idx="11">
                  <c:v>0.42309407044137315</c:v>
                </c:pt>
                <c:pt idx="12">
                  <c:v>0.4404703576678099</c:v>
                </c:pt>
                <c:pt idx="13">
                  <c:v>0.45265957446808508</c:v>
                </c:pt>
                <c:pt idx="14">
                  <c:v>0.46495327102803741</c:v>
                </c:pt>
                <c:pt idx="15">
                  <c:v>0.48070634401569651</c:v>
                </c:pt>
                <c:pt idx="16">
                  <c:v>0.50553505535055354</c:v>
                </c:pt>
                <c:pt idx="17">
                  <c:v>0.51953449709060684</c:v>
                </c:pt>
                <c:pt idx="18">
                  <c:v>0.53719008264462809</c:v>
                </c:pt>
                <c:pt idx="19">
                  <c:v>0.55175983436853004</c:v>
                </c:pt>
                <c:pt idx="20">
                  <c:v>0.57025761124121777</c:v>
                </c:pt>
                <c:pt idx="21">
                  <c:v>0.58629776021080371</c:v>
                </c:pt>
                <c:pt idx="22">
                  <c:v>0.59787556904400607</c:v>
                </c:pt>
                <c:pt idx="23">
                  <c:v>0.60726643598615915</c:v>
                </c:pt>
                <c:pt idx="24">
                  <c:v>0.62674650698602796</c:v>
                </c:pt>
                <c:pt idx="25">
                  <c:v>0.6335697399527187</c:v>
                </c:pt>
                <c:pt idx="26">
                  <c:v>0.64265129682997113</c:v>
                </c:pt>
                <c:pt idx="27">
                  <c:v>0.65591397849462363</c:v>
                </c:pt>
                <c:pt idx="28">
                  <c:v>0.68281938325991187</c:v>
                </c:pt>
                <c:pt idx="29">
                  <c:v>0.68965517241379315</c:v>
                </c:pt>
                <c:pt idx="30">
                  <c:v>0.70229007633587781</c:v>
                </c:pt>
                <c:pt idx="31">
                  <c:v>0.72448979591836737</c:v>
                </c:pt>
                <c:pt idx="32">
                  <c:v>0.7068965517241379</c:v>
                </c:pt>
                <c:pt idx="33">
                  <c:v>0.70270270270270274</c:v>
                </c:pt>
                <c:pt idx="34">
                  <c:v>0.70833333333333337</c:v>
                </c:pt>
              </c:numCache>
            </c:numRef>
          </c:yVal>
          <c:smooth val="0"/>
          <c:extLst>
            <c:ext xmlns:c16="http://schemas.microsoft.com/office/drawing/2014/chart" uri="{C3380CC4-5D6E-409C-BE32-E72D297353CC}">
              <c16:uniqueId val="{00000000-1728-4EC9-9070-79C3479A4A8A}"/>
            </c:ext>
          </c:extLst>
        </c:ser>
        <c:ser>
          <c:idx val="1"/>
          <c:order val="1"/>
          <c:tx>
            <c:strRef>
              <c:f>Sheet1!$B$38</c:f>
              <c:strCache>
                <c:ptCount val="1"/>
                <c:pt idx="0">
                  <c:v>Recall</c:v>
                </c:pt>
              </c:strCache>
            </c:strRef>
          </c:tx>
          <c:spPr>
            <a:ln w="28575">
              <a:solidFill>
                <a:srgbClr val="2F5D8C"/>
              </a:solidFill>
            </a:ln>
          </c:spPr>
          <c:marker>
            <c:symbol val="none"/>
          </c:marker>
          <c:xVal>
            <c:numRef>
              <c:f>Sheet1!$A$39:$A$73</c:f>
              <c:numCache>
                <c:formatCode>General</c:formatCode>
                <c:ptCount val="35"/>
                <c:pt idx="0">
                  <c:v>0.02</c:v>
                </c:pt>
                <c:pt idx="1">
                  <c:v>0.04</c:v>
                </c:pt>
                <c:pt idx="2">
                  <c:v>0.06</c:v>
                </c:pt>
                <c:pt idx="3">
                  <c:v>0.08</c:v>
                </c:pt>
                <c:pt idx="4">
                  <c:v>0.1</c:v>
                </c:pt>
                <c:pt idx="5">
                  <c:v>0.12</c:v>
                </c:pt>
                <c:pt idx="6">
                  <c:v>0.14000000000000001</c:v>
                </c:pt>
                <c:pt idx="7">
                  <c:v>0.16</c:v>
                </c:pt>
                <c:pt idx="8">
                  <c:v>0.18</c:v>
                </c:pt>
                <c:pt idx="9">
                  <c:v>0.2</c:v>
                </c:pt>
                <c:pt idx="10">
                  <c:v>0.22</c:v>
                </c:pt>
                <c:pt idx="11">
                  <c:v>0.24</c:v>
                </c:pt>
                <c:pt idx="12">
                  <c:v>0.26</c:v>
                </c:pt>
                <c:pt idx="13">
                  <c:v>0.28000000000000003</c:v>
                </c:pt>
                <c:pt idx="14">
                  <c:v>0.3</c:v>
                </c:pt>
                <c:pt idx="15">
                  <c:v>0.32</c:v>
                </c:pt>
                <c:pt idx="16">
                  <c:v>0.34</c:v>
                </c:pt>
                <c:pt idx="17">
                  <c:v>0.36</c:v>
                </c:pt>
                <c:pt idx="18">
                  <c:v>0.38</c:v>
                </c:pt>
                <c:pt idx="19">
                  <c:v>0.4</c:v>
                </c:pt>
                <c:pt idx="20">
                  <c:v>0.42</c:v>
                </c:pt>
                <c:pt idx="21">
                  <c:v>0.44</c:v>
                </c:pt>
                <c:pt idx="22">
                  <c:v>0.46</c:v>
                </c:pt>
                <c:pt idx="23">
                  <c:v>0.48</c:v>
                </c:pt>
                <c:pt idx="24">
                  <c:v>0.5</c:v>
                </c:pt>
                <c:pt idx="25">
                  <c:v>0.52</c:v>
                </c:pt>
                <c:pt idx="26">
                  <c:v>0.54</c:v>
                </c:pt>
                <c:pt idx="27">
                  <c:v>0.56000000000000005</c:v>
                </c:pt>
                <c:pt idx="28">
                  <c:v>0.57999999999999996</c:v>
                </c:pt>
                <c:pt idx="29">
                  <c:v>0.6</c:v>
                </c:pt>
                <c:pt idx="30">
                  <c:v>0.62</c:v>
                </c:pt>
                <c:pt idx="31">
                  <c:v>0.64</c:v>
                </c:pt>
                <c:pt idx="32">
                  <c:v>0.66</c:v>
                </c:pt>
                <c:pt idx="33">
                  <c:v>0.68</c:v>
                </c:pt>
                <c:pt idx="34">
                  <c:v>0.7</c:v>
                </c:pt>
              </c:numCache>
            </c:numRef>
          </c:xVal>
          <c:yVal>
            <c:numRef>
              <c:f>Sheet1!$B$39:$B$73</c:f>
              <c:numCache>
                <c:formatCode>General</c:formatCode>
                <c:ptCount val="35"/>
                <c:pt idx="0">
                  <c:v>0.93416458852867834</c:v>
                </c:pt>
                <c:pt idx="1">
                  <c:v>0.87431421446384039</c:v>
                </c:pt>
                <c:pt idx="2">
                  <c:v>0.81147132169576064</c:v>
                </c:pt>
                <c:pt idx="3">
                  <c:v>0.75411471321695756</c:v>
                </c:pt>
                <c:pt idx="4">
                  <c:v>0.70473815461346634</c:v>
                </c:pt>
                <c:pt idx="5">
                  <c:v>0.66783042394014958</c:v>
                </c:pt>
                <c:pt idx="6">
                  <c:v>0.62593516209476308</c:v>
                </c:pt>
                <c:pt idx="7">
                  <c:v>0.58503740648379055</c:v>
                </c:pt>
                <c:pt idx="8">
                  <c:v>0.55062344139650876</c:v>
                </c:pt>
                <c:pt idx="9">
                  <c:v>0.52219451371571068</c:v>
                </c:pt>
                <c:pt idx="10">
                  <c:v>0.49675810473815463</c:v>
                </c:pt>
                <c:pt idx="11">
                  <c:v>0.47331670822942645</c:v>
                </c:pt>
                <c:pt idx="12">
                  <c:v>0.44837905236907732</c:v>
                </c:pt>
                <c:pt idx="13">
                  <c:v>0.42443890274314217</c:v>
                </c:pt>
                <c:pt idx="14">
                  <c:v>0.39700748129675811</c:v>
                </c:pt>
                <c:pt idx="15">
                  <c:v>0.36658354114713215</c:v>
                </c:pt>
                <c:pt idx="16">
                  <c:v>0.34164588528678302</c:v>
                </c:pt>
                <c:pt idx="17">
                  <c:v>0.3117206982543641</c:v>
                </c:pt>
                <c:pt idx="18">
                  <c:v>0.29177057356608477</c:v>
                </c:pt>
                <c:pt idx="19">
                  <c:v>0.26583541147132167</c:v>
                </c:pt>
                <c:pt idx="20">
                  <c:v>0.24289276807980051</c:v>
                </c:pt>
                <c:pt idx="21">
                  <c:v>0.22194513715710723</c:v>
                </c:pt>
                <c:pt idx="22">
                  <c:v>0.19650872817955112</c:v>
                </c:pt>
                <c:pt idx="23">
                  <c:v>0.17506234413965088</c:v>
                </c:pt>
                <c:pt idx="24">
                  <c:v>0.15660847880299253</c:v>
                </c:pt>
                <c:pt idx="25">
                  <c:v>0.13366583541147131</c:v>
                </c:pt>
                <c:pt idx="26">
                  <c:v>0.11122194513715711</c:v>
                </c:pt>
                <c:pt idx="27">
                  <c:v>9.12718204488778E-2</c:v>
                </c:pt>
                <c:pt idx="28">
                  <c:v>7.7306733167082295E-2</c:v>
                </c:pt>
                <c:pt idx="29">
                  <c:v>5.9850374064837904E-2</c:v>
                </c:pt>
                <c:pt idx="30">
                  <c:v>4.5885286783042392E-2</c:v>
                </c:pt>
                <c:pt idx="31">
                  <c:v>3.541147132169576E-2</c:v>
                </c:pt>
                <c:pt idx="32">
                  <c:v>2.0448877805486283E-2</c:v>
                </c:pt>
                <c:pt idx="33">
                  <c:v>1.2967581047381545E-2</c:v>
                </c:pt>
                <c:pt idx="34">
                  <c:v>8.4788029925187032E-3</c:v>
                </c:pt>
              </c:numCache>
            </c:numRef>
          </c:yVal>
          <c:smooth val="0"/>
          <c:extLst>
            <c:ext xmlns:c16="http://schemas.microsoft.com/office/drawing/2014/chart" uri="{C3380CC4-5D6E-409C-BE32-E72D297353CC}">
              <c16:uniqueId val="{00000001-1728-4EC9-9070-79C3479A4A8A}"/>
            </c:ext>
          </c:extLst>
        </c:ser>
        <c:ser>
          <c:idx val="2"/>
          <c:order val="2"/>
          <c:tx>
            <c:strRef>
              <c:f>Sheet1!$B$75</c:f>
              <c:strCache>
                <c:ptCount val="1"/>
                <c:pt idx="0">
                  <c:v>F1</c:v>
                </c:pt>
              </c:strCache>
            </c:strRef>
          </c:tx>
          <c:spPr>
            <a:ln w="25400">
              <a:solidFill>
                <a:srgbClr val="6B6B6B"/>
              </a:solidFill>
              <a:prstDash val="sysDot"/>
            </a:ln>
          </c:spPr>
          <c:marker>
            <c:symbol val="none"/>
          </c:marker>
          <c:xVal>
            <c:numRef>
              <c:f>Sheet1!$A$76:$A$110</c:f>
              <c:numCache>
                <c:formatCode>General</c:formatCode>
                <c:ptCount val="35"/>
                <c:pt idx="0">
                  <c:v>0.02</c:v>
                </c:pt>
                <c:pt idx="1">
                  <c:v>0.04</c:v>
                </c:pt>
                <c:pt idx="2">
                  <c:v>0.06</c:v>
                </c:pt>
                <c:pt idx="3">
                  <c:v>0.08</c:v>
                </c:pt>
                <c:pt idx="4">
                  <c:v>0.1</c:v>
                </c:pt>
                <c:pt idx="5">
                  <c:v>0.12</c:v>
                </c:pt>
                <c:pt idx="6">
                  <c:v>0.14000000000000001</c:v>
                </c:pt>
                <c:pt idx="7">
                  <c:v>0.16</c:v>
                </c:pt>
                <c:pt idx="8">
                  <c:v>0.18</c:v>
                </c:pt>
                <c:pt idx="9">
                  <c:v>0.2</c:v>
                </c:pt>
                <c:pt idx="10">
                  <c:v>0.22</c:v>
                </c:pt>
                <c:pt idx="11">
                  <c:v>0.24</c:v>
                </c:pt>
                <c:pt idx="12">
                  <c:v>0.26</c:v>
                </c:pt>
                <c:pt idx="13">
                  <c:v>0.28000000000000003</c:v>
                </c:pt>
                <c:pt idx="14">
                  <c:v>0.3</c:v>
                </c:pt>
                <c:pt idx="15">
                  <c:v>0.32</c:v>
                </c:pt>
                <c:pt idx="16">
                  <c:v>0.34</c:v>
                </c:pt>
                <c:pt idx="17">
                  <c:v>0.36</c:v>
                </c:pt>
                <c:pt idx="18">
                  <c:v>0.38</c:v>
                </c:pt>
                <c:pt idx="19">
                  <c:v>0.4</c:v>
                </c:pt>
                <c:pt idx="20">
                  <c:v>0.42</c:v>
                </c:pt>
                <c:pt idx="21">
                  <c:v>0.44</c:v>
                </c:pt>
                <c:pt idx="22">
                  <c:v>0.46</c:v>
                </c:pt>
                <c:pt idx="23">
                  <c:v>0.48</c:v>
                </c:pt>
                <c:pt idx="24">
                  <c:v>0.5</c:v>
                </c:pt>
                <c:pt idx="25">
                  <c:v>0.52</c:v>
                </c:pt>
                <c:pt idx="26">
                  <c:v>0.54</c:v>
                </c:pt>
                <c:pt idx="27">
                  <c:v>0.56000000000000005</c:v>
                </c:pt>
                <c:pt idx="28">
                  <c:v>0.57999999999999996</c:v>
                </c:pt>
                <c:pt idx="29">
                  <c:v>0.6</c:v>
                </c:pt>
                <c:pt idx="30">
                  <c:v>0.62</c:v>
                </c:pt>
                <c:pt idx="31">
                  <c:v>0.64</c:v>
                </c:pt>
                <c:pt idx="32">
                  <c:v>0.66</c:v>
                </c:pt>
                <c:pt idx="33">
                  <c:v>0.68</c:v>
                </c:pt>
                <c:pt idx="34">
                  <c:v>0.7</c:v>
                </c:pt>
              </c:numCache>
            </c:numRef>
          </c:xVal>
          <c:yVal>
            <c:numRef>
              <c:f>Sheet1!$B$76:$B$110</c:f>
              <c:numCache>
                <c:formatCode>General</c:formatCode>
                <c:ptCount val="35"/>
                <c:pt idx="0">
                  <c:v>0.2081689358155043</c:v>
                </c:pt>
                <c:pt idx="1">
                  <c:v>0.26865900383141761</c:v>
                </c:pt>
                <c:pt idx="2">
                  <c:v>0.31466976114495698</c:v>
                </c:pt>
                <c:pt idx="3">
                  <c:v>0.35117872488677271</c:v>
                </c:pt>
                <c:pt idx="4">
                  <c:v>0.38096521973577785</c:v>
                </c:pt>
                <c:pt idx="5">
                  <c:v>0.40637329286798179</c:v>
                </c:pt>
                <c:pt idx="6">
                  <c:v>0.42199058507061199</c:v>
                </c:pt>
                <c:pt idx="7">
                  <c:v>0.43188512518409428</c:v>
                </c:pt>
                <c:pt idx="8">
                  <c:v>0.4385302879841112</c:v>
                </c:pt>
                <c:pt idx="9">
                  <c:v>0.44543714103382259</c:v>
                </c:pt>
                <c:pt idx="10">
                  <c:v>0.44794243310096693</c:v>
                </c:pt>
                <c:pt idx="11">
                  <c:v>0.4467984934086629</c:v>
                </c:pt>
                <c:pt idx="12">
                  <c:v>0.44438952051408798</c:v>
                </c:pt>
                <c:pt idx="13">
                  <c:v>0.43809523809523809</c:v>
                </c:pt>
                <c:pt idx="14">
                  <c:v>0.42830239440408929</c:v>
                </c:pt>
                <c:pt idx="15">
                  <c:v>0.41595925297113751</c:v>
                </c:pt>
                <c:pt idx="16">
                  <c:v>0.40773809523809523</c:v>
                </c:pt>
                <c:pt idx="17">
                  <c:v>0.38965087281795513</c:v>
                </c:pt>
                <c:pt idx="18">
                  <c:v>0.37815126050420167</c:v>
                </c:pt>
                <c:pt idx="19">
                  <c:v>0.35880175025244027</c:v>
                </c:pt>
                <c:pt idx="20">
                  <c:v>0.34067855893669113</c:v>
                </c:pt>
                <c:pt idx="21">
                  <c:v>0.3219971056439942</c:v>
                </c:pt>
                <c:pt idx="22">
                  <c:v>0.29579579579579579</c:v>
                </c:pt>
                <c:pt idx="23">
                  <c:v>0.27177700348432055</c:v>
                </c:pt>
                <c:pt idx="24">
                  <c:v>0.25059856344772546</c:v>
                </c:pt>
                <c:pt idx="25">
                  <c:v>0.22075782537067545</c:v>
                </c:pt>
                <c:pt idx="26">
                  <c:v>0.18962585034013604</c:v>
                </c:pt>
                <c:pt idx="27">
                  <c:v>0.16024518388791595</c:v>
                </c:pt>
                <c:pt idx="28">
                  <c:v>0.1388888888888889</c:v>
                </c:pt>
                <c:pt idx="29">
                  <c:v>0.11014226709499771</c:v>
                </c:pt>
                <c:pt idx="30">
                  <c:v>8.6142322097378279E-2</c:v>
                </c:pt>
                <c:pt idx="31">
                  <c:v>6.7522586780789345E-2</c:v>
                </c:pt>
                <c:pt idx="32">
                  <c:v>3.9747939893359188E-2</c:v>
                </c:pt>
                <c:pt idx="33">
                  <c:v>2.5465230166503428E-2</c:v>
                </c:pt>
                <c:pt idx="34">
                  <c:v>1.6757023164120255E-2</c:v>
                </c:pt>
              </c:numCache>
            </c:numRef>
          </c:yVal>
          <c:smooth val="0"/>
          <c:extLst>
            <c:ext xmlns:c16="http://schemas.microsoft.com/office/drawing/2014/chart" uri="{C3380CC4-5D6E-409C-BE32-E72D297353CC}">
              <c16:uniqueId val="{00000002-1728-4EC9-9070-79C3479A4A8A}"/>
            </c:ext>
          </c:extLst>
        </c:ser>
        <c:ser>
          <c:idx val="3"/>
          <c:order val="3"/>
          <c:tx>
            <c:strRef>
              <c:f>Sheet1!$B$112</c:f>
              <c:strCache>
                <c:ptCount val="1"/>
                <c:pt idx="0">
                  <c:v>Cut-off 0.23</c:v>
                </c:pt>
              </c:strCache>
            </c:strRef>
          </c:tx>
          <c:spPr>
            <a:ln w="19050">
              <a:solidFill>
                <a:srgbClr val="1A1A1A"/>
              </a:solidFill>
              <a:prstDash val="dash"/>
            </a:ln>
          </c:spPr>
          <c:marker>
            <c:symbol val="none"/>
          </c:marker>
          <c:xVal>
            <c:numRef>
              <c:f>Sheet1!$A$113:$A$114</c:f>
              <c:numCache>
                <c:formatCode>General</c:formatCode>
                <c:ptCount val="2"/>
                <c:pt idx="0">
                  <c:v>0.23018868110267257</c:v>
                </c:pt>
                <c:pt idx="1">
                  <c:v>0.23018868110267257</c:v>
                </c:pt>
              </c:numCache>
            </c:numRef>
          </c:xVal>
          <c:yVal>
            <c:numRef>
              <c:f>Sheet1!$B$113:$B$114</c:f>
              <c:numCache>
                <c:formatCode>General</c:formatCode>
                <c:ptCount val="2"/>
                <c:pt idx="0">
                  <c:v>0</c:v>
                </c:pt>
                <c:pt idx="1">
                  <c:v>1</c:v>
                </c:pt>
              </c:numCache>
            </c:numRef>
          </c:yVal>
          <c:smooth val="0"/>
          <c:extLst>
            <c:ext xmlns:c16="http://schemas.microsoft.com/office/drawing/2014/chart" uri="{C3380CC4-5D6E-409C-BE32-E72D297353CC}">
              <c16:uniqueId val="{00000003-1728-4EC9-9070-79C3479A4A8A}"/>
            </c:ext>
          </c:extLst>
        </c:ser>
        <c:dLbls>
          <c:showLegendKey val="0"/>
          <c:showVal val="0"/>
          <c:showCatName val="0"/>
          <c:showSerName val="0"/>
          <c:showPercent val="0"/>
          <c:showBubbleSize val="0"/>
        </c:dLbls>
        <c:axId val="-2128940872"/>
        <c:axId val="-2129643912"/>
      </c:scatterChart>
      <c:valAx>
        <c:axId val="-2128940872"/>
        <c:scaling>
          <c:orientation val="minMax"/>
          <c:max val="0.7"/>
          <c:min val="0"/>
        </c:scaling>
        <c:delete val="0"/>
        <c:axPos val="b"/>
        <c:numFmt formatCode="0.0" sourceLinked="0"/>
        <c:majorTickMark val="out"/>
        <c:minorTickMark val="none"/>
        <c:tickLblPos val="nextTo"/>
        <c:spPr>
          <a:ln>
            <a:solidFill>
              <a:srgbClr val="D9D9D9"/>
            </a:solidFill>
          </a:ln>
        </c:spPr>
        <c:crossAx val="-2129643912"/>
        <c:crosses val="autoZero"/>
        <c:crossBetween val="midCat"/>
        <c:majorUnit val="0.1"/>
      </c:valAx>
      <c:valAx>
        <c:axId val="-2129643912"/>
        <c:scaling>
          <c:orientation val="minMax"/>
          <c:max val="1"/>
          <c:min val="0"/>
        </c:scaling>
        <c:delete val="0"/>
        <c:axPos val="l"/>
        <c:majorGridlines>
          <c:spPr>
            <a:ln w="9525">
              <a:solidFill>
                <a:srgbClr val="D9D9D9"/>
              </a:solidFill>
            </a:ln>
          </c:spPr>
        </c:majorGridlines>
        <c:numFmt formatCode="0%" sourceLinked="0"/>
        <c:majorTickMark val="out"/>
        <c:minorTickMark val="none"/>
        <c:tickLblPos val="nextTo"/>
        <c:spPr>
          <a:ln>
            <a:solidFill>
              <a:srgbClr val="D9D9D9"/>
            </a:solidFill>
          </a:ln>
        </c:spPr>
        <c:crossAx val="-2128940872"/>
        <c:crosses val="autoZero"/>
        <c:crossBetween val="midCat"/>
        <c:majorUnit val="0.25"/>
      </c:valAx>
    </c:plotArea>
    <c:legend>
      <c:legendPos val="b"/>
      <c:overlay val="0"/>
      <c:txPr>
        <a:bodyPr/>
        <a:lstStyle/>
        <a:p>
          <a:pPr>
            <a:defRPr sz="1100"/>
          </a:pPr>
          <a:endParaRPr lang="en-US"/>
        </a:p>
      </c:txPr>
    </c:legend>
    <c:plotVisOnly val="1"/>
    <c:dispBlanksAs val="gap"/>
    <c:showDLblsOverMax val="0"/>
  </c:chart>
  <c:txPr>
    <a:bodyPr/>
    <a:lstStyle/>
    <a:p>
      <a:pPr>
        <a:defRPr sz="1100">
          <a:solidFill>
            <a:srgbClr val="1A1A1A"/>
          </a:solidFill>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5E09D7-0ED3-4FB4-968D-50574EBBA179}" type="datetimeFigureOut">
              <a:rPr lang="en-IN" smtClean="0"/>
              <a:t>14-10-2026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9963A1E-539A-4081-80D9-4186E0CB4BF4}" type="slidenum">
              <a:rPr lang="en-IN" smtClean="0"/>
              <a:t>‹#›</a:t>
            </a:fld>
            <a:endParaRPr lang="en-IN"/>
          </a:p>
        </p:txBody>
      </p:sp>
    </p:spTree>
    <p:extLst>
      <p:ext uri="{BB962C8B-B14F-4D97-AF65-F5344CB8AC3E}">
        <p14:creationId xmlns:p14="http://schemas.microsoft.com/office/powerpoint/2010/main" val="1314052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Machine Learning project: predicting serious borrower delinquency with a Random Forest, served through a FastAPI backend and a React web app.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Give Me Some Credit from Kaggle, 150,000 labelled borrowers, ten numeric predictors. The target is serious delinquency, 90+ days past due within two years. Only 6.68% of borrowers are positive, which is why accuracy is a misleading metric. The 269 rows coded 96/98 are 54.65% positive, so the pipeline keeps a missing-value flag rather than quietly imputing them away.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Methodology. The split is stratified 60/20/20 and every fitted statistic comes from training data only. Five Random Forest configurations were compared on validation by PR-AUC, the decision threshold was chosen on validation by maximising F1, and the winner was refitted on train plus validation and scored once on test. The forest builds 300 decision trees, each on a bootstrap sample with random feature subsets at every split. The probability is the mean of the per-tree leaf proportions, not a hard majority vote.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Results on the held-out test set. ROC-AUC is about 0.865 and PR-AUC about 0.40 against a chance level of 0.067. At the chosen cut-off the model catches roughly half of the delinquent borrowers at about 42% precision. Accuracy is deliberately not the headline: always answering no scores higher. Payment history dominates feature importance, but importance describes the model, not causes. Cross-validation confirms the test score is stable.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A7CAFCF-AC79-4329-BEB1-D88D25EDB3E2}"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3847253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A7CAFCF-AC79-4329-BEB1-D88D25EDB3E2}"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6377828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7CAFCF-AC79-4329-BEB1-D88D25EDB3E2}"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32262421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A7CAFCF-AC79-4329-BEB1-D88D25EDB3E2}" type="datetimeFigureOut">
              <a:rPr lang="en-IN" smtClean="0"/>
              <a:t>14-10-2026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840010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A7CAFCF-AC79-4329-BEB1-D88D25EDB3E2}" type="datetimeFigureOut">
              <a:rPr lang="en-IN" smtClean="0"/>
              <a:t>14-10-2026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1856748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A7CAFCF-AC79-4329-BEB1-D88D25EDB3E2}" type="datetimeFigureOut">
              <a:rPr lang="en-IN" smtClean="0"/>
              <a:t>14-10-2026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912572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7CAFCF-AC79-4329-BEB1-D88D25EDB3E2}" type="datetimeFigureOut">
              <a:rPr lang="en-IN" smtClean="0"/>
              <a:t>14-10-2026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2090772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7CAFCF-AC79-4329-BEB1-D88D25EDB3E2}" type="datetimeFigureOut">
              <a:rPr lang="en-IN" smtClean="0"/>
              <a:t>14-10-2026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3928962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7CAFCF-AC79-4329-BEB1-D88D25EDB3E2}" type="datetimeFigureOut">
              <a:rPr lang="en-IN" smtClean="0"/>
              <a:t>14-10-2026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776510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A7CAFCF-AC79-4329-BEB1-D88D25EDB3E2}"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354002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A7CAFCF-AC79-4329-BEB1-D88D25EDB3E2}" type="datetimeFigureOut">
              <a:rPr lang="en-IN" smtClean="0"/>
              <a:t>14-10-2026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9A64DDA-A803-4744-AF99-BC922F986786}" type="slidenum">
              <a:rPr lang="en-IN" smtClean="0"/>
              <a:t>‹#›</a:t>
            </a:fld>
            <a:endParaRPr lang="en-IN"/>
          </a:p>
        </p:txBody>
      </p:sp>
    </p:spTree>
    <p:extLst>
      <p:ext uri="{BB962C8B-B14F-4D97-AF65-F5344CB8AC3E}">
        <p14:creationId xmlns:p14="http://schemas.microsoft.com/office/powerpoint/2010/main" val="686998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7CAFCF-AC79-4329-BEB1-D88D25EDB3E2}" type="datetimeFigureOut">
              <a:rPr lang="en-IN" smtClean="0"/>
              <a:t>14-10-2026</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A64DDA-A803-4744-AF99-BC922F986786}" type="slidenum">
              <a:rPr lang="en-IN" smtClean="0"/>
              <a:t>‹#›</a:t>
            </a:fld>
            <a:endParaRPr lang="en-IN"/>
          </a:p>
        </p:txBody>
      </p:sp>
    </p:spTree>
    <p:extLst>
      <p:ext uri="{BB962C8B-B14F-4D97-AF65-F5344CB8AC3E}">
        <p14:creationId xmlns:p14="http://schemas.microsoft.com/office/powerpoint/2010/main" val="2472871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chart" Target="../charts/char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JSPM s Rajarshi Shahu College of Engineering, Tathawade - 2023 Admission,  Fees, Courses, Ranking, Placement">
            <a:extLst>
              <a:ext uri="{FF2B5EF4-FFF2-40B4-BE49-F238E27FC236}">
                <a16:creationId xmlns:a16="http://schemas.microsoft.com/office/drawing/2014/main" id="{2AC37EFD-D716-4491-B060-F82231047A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38665" cy="102473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F609B56-7E2F-4878-BFF9-1726B9C0D8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92544" y="41200"/>
            <a:ext cx="1003735" cy="937679"/>
          </a:xfrm>
          <a:prstGeom prst="rect">
            <a:avLst/>
          </a:prstGeom>
        </p:spPr>
      </p:pic>
      <p:sp>
        <p:nvSpPr>
          <p:cNvPr id="13" name="TextBox 12">
            <a:extLst>
              <a:ext uri="{FF2B5EF4-FFF2-40B4-BE49-F238E27FC236}">
                <a16:creationId xmlns:a16="http://schemas.microsoft.com/office/drawing/2014/main" id="{97389D3B-D090-41D6-BB8D-F8D1A3EC2634}"/>
              </a:ext>
            </a:extLst>
          </p:cNvPr>
          <p:cNvSpPr txBox="1"/>
          <p:nvPr/>
        </p:nvSpPr>
        <p:spPr>
          <a:xfrm>
            <a:off x="1038666" y="-36784"/>
            <a:ext cx="9809862" cy="1015663"/>
          </a:xfrm>
          <a:prstGeom prst="rect">
            <a:avLst/>
          </a:prstGeom>
          <a:noFill/>
        </p:spPr>
        <p:txBody>
          <a:bodyPr wrap="square">
            <a:spAutoFit/>
          </a:bodyPr>
          <a:lstStyle/>
          <a:p>
            <a:pPr algn="ctr" defTabSz="713232">
              <a:spcBef>
                <a:spcPct val="50000"/>
              </a:spcBef>
              <a:defRPr/>
            </a:pPr>
            <a:r>
              <a:rPr lang="en-US" sz="1400" b="1" dirty="0">
                <a:solidFill>
                  <a:sysClr val="windowText" lastClr="000000"/>
                </a:solidFill>
                <a:latin typeface="Bookman Old Style" panose="02050604050505020204" pitchFamily="18" charset="0"/>
              </a:rPr>
              <a:t>JSPM’s </a:t>
            </a:r>
            <a:br>
              <a:rPr lang="en-US" sz="1400" b="1" dirty="0">
                <a:solidFill>
                  <a:sysClr val="windowText" lastClr="000000"/>
                </a:solidFill>
                <a:latin typeface="Bookman Old Style" panose="02050604050505020204" pitchFamily="18" charset="0"/>
              </a:rPr>
            </a:br>
            <a:r>
              <a:rPr lang="en-US" sz="1400" b="1" dirty="0" err="1">
                <a:solidFill>
                  <a:sysClr val="windowText" lastClr="000000"/>
                </a:solidFill>
                <a:latin typeface="Bookman Old Style" panose="02050604050505020204" pitchFamily="18" charset="0"/>
              </a:rPr>
              <a:t>Rajarshi</a:t>
            </a:r>
            <a:r>
              <a:rPr lang="en-US" sz="1400" b="1" dirty="0">
                <a:solidFill>
                  <a:sysClr val="windowText" lastClr="000000"/>
                </a:solidFill>
                <a:latin typeface="Bookman Old Style" panose="02050604050505020204" pitchFamily="18" charset="0"/>
              </a:rPr>
              <a:t> </a:t>
            </a:r>
            <a:r>
              <a:rPr lang="en-US" sz="1400" b="1" dirty="0" err="1">
                <a:solidFill>
                  <a:sysClr val="windowText" lastClr="000000"/>
                </a:solidFill>
                <a:latin typeface="Bookman Old Style" panose="02050604050505020204" pitchFamily="18" charset="0"/>
              </a:rPr>
              <a:t>Shahu</a:t>
            </a:r>
            <a:r>
              <a:rPr lang="en-US" sz="1400" b="1" dirty="0">
                <a:solidFill>
                  <a:sysClr val="windowText" lastClr="000000"/>
                </a:solidFill>
                <a:latin typeface="Bookman Old Style" panose="02050604050505020204" pitchFamily="18" charset="0"/>
              </a:rPr>
              <a:t> College of Engineering, </a:t>
            </a:r>
            <a:r>
              <a:rPr lang="en-US" sz="1400" b="1" dirty="0" err="1">
                <a:solidFill>
                  <a:sysClr val="windowText" lastClr="000000"/>
                </a:solidFill>
                <a:latin typeface="Bookman Old Style" panose="02050604050505020204" pitchFamily="18" charset="0"/>
              </a:rPr>
              <a:t>Tathawade</a:t>
            </a:r>
            <a:r>
              <a:rPr lang="en-US" sz="1400" b="1" dirty="0">
                <a:solidFill>
                  <a:sysClr val="windowText" lastClr="000000"/>
                </a:solidFill>
                <a:latin typeface="Bookman Old Style" panose="02050604050505020204" pitchFamily="18" charset="0"/>
              </a:rPr>
              <a:t>, Pune</a:t>
            </a:r>
            <a:br>
              <a:rPr lang="en-US" sz="1400" b="1" dirty="0">
                <a:solidFill>
                  <a:sysClr val="windowText" lastClr="000000"/>
                </a:solidFill>
                <a:latin typeface="Bookman Old Style" panose="02050604050505020204" pitchFamily="18" charset="0"/>
              </a:rPr>
            </a:br>
            <a:r>
              <a:rPr lang="en-US" sz="1200" b="1" dirty="0">
                <a:solidFill>
                  <a:sysClr val="windowText" lastClr="000000"/>
                </a:solidFill>
                <a:latin typeface="Bookman Old Style" panose="02050604050505020204" pitchFamily="18" charset="0"/>
              </a:rPr>
              <a:t>(An Autonomous Institute affiliated to Savitribai Phule Pune University)</a:t>
            </a:r>
            <a:br>
              <a:rPr lang="en-US" sz="1200" b="1" dirty="0">
                <a:solidFill>
                  <a:sysClr val="windowText" lastClr="000000"/>
                </a:solidFill>
                <a:latin typeface="Bookman Old Style" panose="02050604050505020204" pitchFamily="18" charset="0"/>
              </a:rPr>
            </a:br>
            <a:r>
              <a:rPr lang="en-US" b="1" dirty="0">
                <a:solidFill>
                  <a:sysClr val="windowText" lastClr="000000"/>
                </a:solidFill>
                <a:latin typeface="Bookman Old Style" panose="02050604050505020204" pitchFamily="18" charset="0"/>
              </a:rPr>
              <a:t>Department of Computer Science and Business Systems</a:t>
            </a:r>
          </a:p>
        </p:txBody>
      </p:sp>
      <p:sp>
        <p:nvSpPr>
          <p:cNvPr id="15" name="TextBox 14">
            <a:extLst>
              <a:ext uri="{FF2B5EF4-FFF2-40B4-BE49-F238E27FC236}">
                <a16:creationId xmlns:a16="http://schemas.microsoft.com/office/drawing/2014/main" id="{C72AA1BD-5C37-4898-838A-C1F25A58D660}"/>
              </a:ext>
            </a:extLst>
          </p:cNvPr>
          <p:cNvSpPr txBox="1"/>
          <p:nvPr/>
        </p:nvSpPr>
        <p:spPr>
          <a:xfrm>
            <a:off x="0" y="879554"/>
            <a:ext cx="12192000" cy="738664"/>
          </a:xfrm>
          <a:prstGeom prst="rect">
            <a:avLst/>
          </a:prstGeom>
          <a:noFill/>
        </p:spPr>
        <p:txBody>
          <a:bodyPr wrap="square">
            <a:spAutoFit/>
          </a:bodyPr>
          <a:lstStyle/>
          <a:p>
            <a:pPr algn="ctr"/>
            <a:r>
              <a:rPr lang="en-US" dirty="0">
                <a:latin typeface="Times New Roman" pitchFamily="18" charset="0"/>
                <a:cs typeface="Times New Roman" pitchFamily="18" charset="0"/>
              </a:rPr>
              <a:t>Academic Year: 2026-27</a:t>
            </a:r>
          </a:p>
          <a:p>
            <a:pPr algn="ctr"/>
            <a:r>
              <a:rPr lang="en-US" sz="2400" b="1" dirty="0">
                <a:latin typeface="Times New Roman" panose="02020603050405020304" pitchFamily="18" charset="0"/>
                <a:cs typeface="Times New Roman" panose="02020603050405020304" pitchFamily="18" charset="0"/>
              </a:rPr>
              <a:t>Project Presentation</a:t>
            </a:r>
          </a:p>
        </p:txBody>
      </p:sp>
      <p:sp>
        <p:nvSpPr>
          <p:cNvPr id="21" name="TextBox 20">
            <a:extLst>
              <a:ext uri="{FF2B5EF4-FFF2-40B4-BE49-F238E27FC236}">
                <a16:creationId xmlns:a16="http://schemas.microsoft.com/office/drawing/2014/main" id="{51C74F7D-56E3-4E55-95F0-C0D8C8C11BE8}"/>
              </a:ext>
            </a:extLst>
          </p:cNvPr>
          <p:cNvSpPr txBox="1"/>
          <p:nvPr/>
        </p:nvSpPr>
        <p:spPr>
          <a:xfrm>
            <a:off x="0" y="1973574"/>
            <a:ext cx="12192000" cy="1292662"/>
          </a:xfrm>
          <a:prstGeom prst="rect">
            <a:avLst/>
          </a:prstGeom>
          <a:noFill/>
        </p:spPr>
        <p:txBody>
          <a:bodyPr wrap="square">
            <a:spAutoFit/>
          </a:bodyPr>
          <a:lstStyle/>
          <a:p>
            <a:pPr algn="ctr"/>
            <a:r>
              <a:rPr sz="2000" b="1" i="0">
                <a:solidFill>
                  <a:srgbClr val="1A1A1A"/>
                </a:solidFill>
                <a:latin typeface="Book Antiqua"/>
              </a:rPr>
              <a:t>Project Title:</a:t>
            </a:r>
            <a:endParaRPr lang="en-US" dirty="0"/>
          </a:p>
          <a:p>
            <a:pPr algn="ctr">
              <a:spcBef>
                <a:spcPts val="400"/>
              </a:spcBef>
            </a:pPr>
            <a:r>
              <a:rPr sz="2800" b="1" i="0">
                <a:solidFill>
                  <a:srgbClr val="1A1A1A"/>
                </a:solidFill>
                <a:latin typeface="Book Antiqua"/>
              </a:rPr>
              <a:t>Loan Default Prediction using Random Forest</a:t>
            </a:r>
          </a:p>
        </p:txBody>
      </p:sp>
      <p:sp>
        <p:nvSpPr>
          <p:cNvPr id="25" name="TextBox 24">
            <a:extLst>
              <a:ext uri="{FF2B5EF4-FFF2-40B4-BE49-F238E27FC236}">
                <a16:creationId xmlns:a16="http://schemas.microsoft.com/office/drawing/2014/main" id="{A1429130-40B3-459E-8B41-60933F69369B}"/>
              </a:ext>
            </a:extLst>
          </p:cNvPr>
          <p:cNvSpPr txBox="1"/>
          <p:nvPr/>
        </p:nvSpPr>
        <p:spPr>
          <a:xfrm>
            <a:off x="1199456" y="3429000"/>
            <a:ext cx="9793088" cy="2103120"/>
          </a:xfrm>
          <a:prstGeom prst="rect">
            <a:avLst/>
          </a:prstGeom>
          <a:noFill/>
        </p:spPr>
        <p:txBody>
          <a:bodyPr wrap="square" anchor="ctr">
            <a:spAutoFit/>
          </a:bodyPr>
          <a:lstStyle/>
          <a:p>
            <a:pPr>
              <a:lnSpc>
                <a:spcPct val="200000"/>
              </a:lnSpc>
              <a:spcAft>
                <a:spcPts val="2200"/>
              </a:spcAft>
              <a:defRPr/>
            </a:pPr>
            <a:r>
              <a:rPr sz="2000" b="1" i="0" dirty="0">
                <a:solidFill>
                  <a:srgbClr val="1A1A1A"/>
                </a:solidFill>
                <a:latin typeface="Book Antiqua"/>
              </a:rPr>
              <a:t>Students Name and PRN no: Prasad Bhalerao (RBT24CB026)</a:t>
            </a:r>
          </a:p>
          <a:p>
            <a:pPr>
              <a:spcAft>
                <a:spcPts val="2200"/>
              </a:spcAft>
            </a:pPr>
            <a:r>
              <a:rPr sz="2000" b="1" i="0" dirty="0">
                <a:solidFill>
                  <a:srgbClr val="1A1A1A"/>
                </a:solidFill>
                <a:latin typeface="Book Antiqua"/>
              </a:rPr>
              <a:t>Faculty: Prof. Neeraj </a:t>
            </a:r>
            <a:r>
              <a:rPr sz="2000" b="1" i="0" dirty="0" err="1">
                <a:solidFill>
                  <a:srgbClr val="1A1A1A"/>
                </a:solidFill>
                <a:latin typeface="Book Antiqua"/>
              </a:rPr>
              <a:t>Sathawane</a:t>
            </a:r>
            <a:endParaRPr sz="2000" b="1" i="0" dirty="0">
              <a:solidFill>
                <a:srgbClr val="1A1A1A"/>
              </a:solidFill>
              <a:latin typeface="Book Antiqua"/>
            </a:endParaRPr>
          </a:p>
          <a:p>
            <a:pPr>
              <a:spcAft>
                <a:spcPts val="2200"/>
              </a:spcAft>
            </a:pPr>
            <a:r>
              <a:rPr sz="2000" b="1" i="0" dirty="0">
                <a:solidFill>
                  <a:srgbClr val="1A1A1A"/>
                </a:solidFill>
                <a:latin typeface="Book Antiqua"/>
              </a:rPr>
              <a:t>Subject: Machine Learning</a:t>
            </a:r>
          </a:p>
        </p:txBody>
      </p:sp>
    </p:spTree>
    <p:extLst>
      <p:ext uri="{BB962C8B-B14F-4D97-AF65-F5344CB8AC3E}">
        <p14:creationId xmlns:p14="http://schemas.microsoft.com/office/powerpoint/2010/main" val="3602338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11274552" cy="658368"/>
          </a:xfrm>
        </p:spPr>
        <p:txBody>
          <a:bodyPr wrap="square" lIns="0" tIns="0" rIns="0" bIns="0" anchor="ctr"/>
          <a:lstStyle/>
          <a:p>
            <a:pPr algn="ctr"/>
            <a:r>
              <a:rPr sz="3000" b="1" i="0">
                <a:solidFill>
                  <a:srgbClr val="1A1A1A"/>
                </a:solidFill>
                <a:latin typeface="Book Antiqua"/>
              </a:rPr>
              <a:t>Dataset and Problem</a:t>
            </a:r>
          </a:p>
        </p:txBody>
      </p:sp>
      <p:sp>
        <p:nvSpPr>
          <p:cNvPr id="3" name="Subtitle"/>
          <p:cNvSpPr txBox="1"/>
          <p:nvPr/>
        </p:nvSpPr>
        <p:spPr>
          <a:xfrm>
            <a:off x="457200" y="841248"/>
            <a:ext cx="11274552" cy="329184"/>
          </a:xfrm>
          <a:prstGeom prst="rect">
            <a:avLst/>
          </a:prstGeom>
          <a:noFill/>
        </p:spPr>
        <p:txBody>
          <a:bodyPr wrap="square" lIns="0" tIns="0" rIns="0" bIns="0" anchor="t">
            <a:spAutoFit/>
          </a:bodyPr>
          <a:lstStyle/>
          <a:p>
            <a:pPr algn="ctr"/>
            <a:r>
              <a:rPr sz="1500" b="0" i="1">
                <a:solidFill>
                  <a:srgbClr val="555555"/>
                </a:solidFill>
                <a:latin typeface="Times New Roman"/>
              </a:rPr>
              <a:t>Give Me Some Credit (Kaggle): who is in the data, what we predict, what had to be fixed</a:t>
            </a:r>
          </a:p>
        </p:txBody>
      </p:sp>
      <p:sp>
        <p:nvSpPr>
          <p:cNvPr id="4" name="Stat 1"/>
          <p:cNvSpPr/>
          <p:nvPr/>
        </p:nvSpPr>
        <p:spPr>
          <a:xfrm>
            <a:off x="457200" y="1371600"/>
            <a:ext cx="1737360" cy="1097280"/>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800" b="1" i="0">
                <a:solidFill>
                  <a:srgbClr val="2F5D8C"/>
                </a:solidFill>
                <a:latin typeface="Book Antiqua"/>
              </a:rPr>
              <a:t>150,000</a:t>
            </a:r>
          </a:p>
          <a:p>
            <a:pPr algn="ctr"/>
            <a:r>
              <a:rPr sz="1300" b="0" i="0">
                <a:solidFill>
                  <a:srgbClr val="1A1A1A"/>
                </a:solidFill>
                <a:latin typeface="Times New Roman"/>
              </a:rPr>
              <a:t>labelled borrowers</a:t>
            </a:r>
          </a:p>
        </p:txBody>
      </p:sp>
      <p:sp>
        <p:nvSpPr>
          <p:cNvPr id="5" name="Stat 2"/>
          <p:cNvSpPr/>
          <p:nvPr/>
        </p:nvSpPr>
        <p:spPr>
          <a:xfrm>
            <a:off x="2331720" y="1371600"/>
            <a:ext cx="1737360" cy="1097280"/>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800" b="1" i="0">
                <a:solidFill>
                  <a:srgbClr val="2F5D8C"/>
                </a:solidFill>
                <a:latin typeface="Book Antiqua"/>
              </a:rPr>
              <a:t>10</a:t>
            </a:r>
          </a:p>
          <a:p>
            <a:pPr algn="ctr"/>
            <a:r>
              <a:rPr sz="1300" b="0" i="0">
                <a:solidFill>
                  <a:srgbClr val="1A1A1A"/>
                </a:solidFill>
                <a:latin typeface="Times New Roman"/>
              </a:rPr>
              <a:t>numeric predictors</a:t>
            </a:r>
          </a:p>
        </p:txBody>
      </p:sp>
      <p:sp>
        <p:nvSpPr>
          <p:cNvPr id="6" name="Stat 3"/>
          <p:cNvSpPr/>
          <p:nvPr/>
        </p:nvSpPr>
        <p:spPr>
          <a:xfrm>
            <a:off x="4206240" y="1371600"/>
            <a:ext cx="1737360" cy="1097280"/>
          </a:xfrm>
          <a:prstGeom prst="rect">
            <a:avLst/>
          </a:prstGeom>
          <a:solidFill>
            <a:srgbClr val="F8DCDC"/>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2800" b="1" i="0">
                <a:solidFill>
                  <a:srgbClr val="B5483F"/>
                </a:solidFill>
                <a:latin typeface="Book Antiqua"/>
              </a:rPr>
              <a:t>6.68%</a:t>
            </a:r>
          </a:p>
          <a:p>
            <a:pPr algn="ctr"/>
            <a:r>
              <a:rPr sz="1300" b="0" i="0">
                <a:solidFill>
                  <a:srgbClr val="1A1A1A"/>
                </a:solidFill>
                <a:latin typeface="Times New Roman"/>
              </a:rPr>
              <a:t>delinquent borrowers</a:t>
            </a:r>
          </a:p>
        </p:txBody>
      </p:sp>
      <p:sp>
        <p:nvSpPr>
          <p:cNvPr id="7" name="Section label"/>
          <p:cNvSpPr txBox="1"/>
          <p:nvPr/>
        </p:nvSpPr>
        <p:spPr>
          <a:xfrm>
            <a:off x="457200" y="2651760"/>
            <a:ext cx="5486400" cy="274320"/>
          </a:xfrm>
          <a:prstGeom prst="rect">
            <a:avLst/>
          </a:prstGeom>
          <a:noFill/>
        </p:spPr>
        <p:txBody>
          <a:bodyPr wrap="square" lIns="0" tIns="0" rIns="0" bIns="0" anchor="t">
            <a:spAutoFit/>
          </a:bodyPr>
          <a:lstStyle/>
          <a:p>
            <a:pPr algn="l"/>
            <a:r>
              <a:rPr sz="1400" b="1" i="0">
                <a:solidFill>
                  <a:srgbClr val="1A1A1A"/>
                </a:solidFill>
                <a:latin typeface="Book Antiqua"/>
              </a:rPr>
              <a:t>Ten predictors, in three groups</a:t>
            </a:r>
          </a:p>
        </p:txBody>
      </p:sp>
      <p:sp>
        <p:nvSpPr>
          <p:cNvPr id="8" name="Group Payment history"/>
          <p:cNvSpPr/>
          <p:nvPr/>
        </p:nvSpPr>
        <p:spPr>
          <a:xfrm>
            <a:off x="457200" y="2971800"/>
            <a:ext cx="1737360" cy="1737360"/>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Group header Payment history"/>
          <p:cNvSpPr/>
          <p:nvPr/>
        </p:nvSpPr>
        <p:spPr>
          <a:xfrm>
            <a:off x="457200" y="2971800"/>
            <a:ext cx="1737360" cy="457200"/>
          </a:xfrm>
          <a:prstGeom prst="rect">
            <a:avLst/>
          </a:prstGeom>
          <a:solidFill>
            <a:srgbClr val="FBEFC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1A1A1A"/>
                </a:solidFill>
                <a:latin typeface="Times New Roman"/>
              </a:rPr>
              <a:t>Payment history</a:t>
            </a:r>
          </a:p>
        </p:txBody>
      </p:sp>
      <p:sp>
        <p:nvSpPr>
          <p:cNvPr id="10" name="Group items Payment history"/>
          <p:cNvSpPr txBox="1"/>
          <p:nvPr/>
        </p:nvSpPr>
        <p:spPr>
          <a:xfrm>
            <a:off x="566928" y="3547872"/>
            <a:ext cx="1554480" cy="1463040"/>
          </a:xfrm>
          <a:prstGeom prst="rect">
            <a:avLst/>
          </a:prstGeom>
          <a:noFill/>
        </p:spPr>
        <p:txBody>
          <a:bodyPr wrap="square" lIns="0" tIns="0" rIns="0" bIns="0" anchor="t">
            <a:spAutoFit/>
          </a:bodyPr>
          <a:lstStyle/>
          <a:p>
            <a:pPr algn="l">
              <a:spcAft>
                <a:spcPts val="500"/>
              </a:spcAft>
            </a:pPr>
            <a:r>
              <a:rPr sz="1300" b="0" i="0">
                <a:solidFill>
                  <a:srgbClr val="1A1A1A"/>
                </a:solidFill>
                <a:latin typeface="Times New Roman"/>
              </a:rPr>
              <a:t>30â€“59 days late</a:t>
            </a:r>
          </a:p>
          <a:p>
            <a:pPr algn="l">
              <a:spcAft>
                <a:spcPts val="500"/>
              </a:spcAft>
            </a:pPr>
            <a:r>
              <a:rPr sz="1300" b="0" i="0">
                <a:solidFill>
                  <a:srgbClr val="1A1A1A"/>
                </a:solidFill>
                <a:latin typeface="Times New Roman"/>
              </a:rPr>
              <a:t>60â€“89 days late</a:t>
            </a:r>
          </a:p>
          <a:p>
            <a:pPr algn="l">
              <a:spcAft>
                <a:spcPts val="500"/>
              </a:spcAft>
            </a:pPr>
            <a:r>
              <a:rPr sz="1300" b="0" i="0">
                <a:solidFill>
                  <a:srgbClr val="1A1A1A"/>
                </a:solidFill>
                <a:latin typeface="Times New Roman"/>
              </a:rPr>
              <a:t>90+ days late</a:t>
            </a:r>
          </a:p>
        </p:txBody>
      </p:sp>
      <p:sp>
        <p:nvSpPr>
          <p:cNvPr id="11" name="Group Credit usage"/>
          <p:cNvSpPr/>
          <p:nvPr/>
        </p:nvSpPr>
        <p:spPr>
          <a:xfrm>
            <a:off x="2331720" y="2971800"/>
            <a:ext cx="1737360" cy="1737360"/>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Group header Credit usage"/>
          <p:cNvSpPr/>
          <p:nvPr/>
        </p:nvSpPr>
        <p:spPr>
          <a:xfrm>
            <a:off x="2331720" y="2971800"/>
            <a:ext cx="1737360" cy="457200"/>
          </a:xfrm>
          <a:prstGeom prst="rect">
            <a:avLst/>
          </a:prstGeom>
          <a:solidFill>
            <a:srgbClr val="DDF0E3"/>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1A1A1A"/>
                </a:solidFill>
                <a:latin typeface="Times New Roman"/>
              </a:rPr>
              <a:t>Credit usage</a:t>
            </a:r>
          </a:p>
        </p:txBody>
      </p:sp>
      <p:sp>
        <p:nvSpPr>
          <p:cNvPr id="13" name="Group items Credit usage"/>
          <p:cNvSpPr txBox="1"/>
          <p:nvPr/>
        </p:nvSpPr>
        <p:spPr>
          <a:xfrm>
            <a:off x="2441448" y="3547872"/>
            <a:ext cx="1554480" cy="1463040"/>
          </a:xfrm>
          <a:prstGeom prst="rect">
            <a:avLst/>
          </a:prstGeom>
          <a:noFill/>
        </p:spPr>
        <p:txBody>
          <a:bodyPr wrap="square" lIns="0" tIns="0" rIns="0" bIns="0" anchor="t">
            <a:spAutoFit/>
          </a:bodyPr>
          <a:lstStyle/>
          <a:p>
            <a:pPr algn="l">
              <a:spcAft>
                <a:spcPts val="500"/>
              </a:spcAft>
            </a:pPr>
            <a:r>
              <a:rPr sz="1300" b="0" i="0">
                <a:solidFill>
                  <a:srgbClr val="1A1A1A"/>
                </a:solidFill>
                <a:latin typeface="Times New Roman"/>
              </a:rPr>
              <a:t>Revolving utilisation</a:t>
            </a:r>
          </a:p>
          <a:p>
            <a:pPr algn="l">
              <a:spcAft>
                <a:spcPts val="500"/>
              </a:spcAft>
            </a:pPr>
            <a:r>
              <a:rPr sz="1300" b="0" i="0">
                <a:solidFill>
                  <a:srgbClr val="1A1A1A"/>
                </a:solidFill>
                <a:latin typeface="Times New Roman"/>
              </a:rPr>
              <a:t>Debt ratio</a:t>
            </a:r>
          </a:p>
          <a:p>
            <a:pPr algn="l">
              <a:spcAft>
                <a:spcPts val="500"/>
              </a:spcAft>
            </a:pPr>
            <a:r>
              <a:rPr sz="1300" b="0" i="0">
                <a:solidFill>
                  <a:srgbClr val="1A1A1A"/>
                </a:solidFill>
                <a:latin typeface="Times New Roman"/>
              </a:rPr>
              <a:t>Open credit lines</a:t>
            </a:r>
          </a:p>
          <a:p>
            <a:pPr algn="l">
              <a:spcAft>
                <a:spcPts val="500"/>
              </a:spcAft>
            </a:pPr>
            <a:r>
              <a:rPr sz="1300" b="0" i="0">
                <a:solidFill>
                  <a:srgbClr val="1A1A1A"/>
                </a:solidFill>
                <a:latin typeface="Times New Roman"/>
              </a:rPr>
              <a:t>Real-estate loans</a:t>
            </a:r>
          </a:p>
        </p:txBody>
      </p:sp>
      <p:sp>
        <p:nvSpPr>
          <p:cNvPr id="14" name="Group Borrower profile"/>
          <p:cNvSpPr/>
          <p:nvPr/>
        </p:nvSpPr>
        <p:spPr>
          <a:xfrm>
            <a:off x="4206240" y="2971800"/>
            <a:ext cx="1737360" cy="1737360"/>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Group header Borrower profile"/>
          <p:cNvSpPr/>
          <p:nvPr/>
        </p:nvSpPr>
        <p:spPr>
          <a:xfrm>
            <a:off x="4206240" y="2971800"/>
            <a:ext cx="1737360" cy="457200"/>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1A1A1A"/>
                </a:solidFill>
                <a:latin typeface="Times New Roman"/>
              </a:rPr>
              <a:t>Borrower profile</a:t>
            </a:r>
          </a:p>
        </p:txBody>
      </p:sp>
      <p:sp>
        <p:nvSpPr>
          <p:cNvPr id="16" name="Group items Borrower profile"/>
          <p:cNvSpPr txBox="1"/>
          <p:nvPr/>
        </p:nvSpPr>
        <p:spPr>
          <a:xfrm>
            <a:off x="4315968" y="3547872"/>
            <a:ext cx="1554480" cy="1463040"/>
          </a:xfrm>
          <a:prstGeom prst="rect">
            <a:avLst/>
          </a:prstGeom>
          <a:noFill/>
        </p:spPr>
        <p:txBody>
          <a:bodyPr wrap="square" lIns="0" tIns="0" rIns="0" bIns="0" anchor="t">
            <a:spAutoFit/>
          </a:bodyPr>
          <a:lstStyle/>
          <a:p>
            <a:pPr algn="l">
              <a:spcAft>
                <a:spcPts val="500"/>
              </a:spcAft>
            </a:pPr>
            <a:r>
              <a:rPr sz="1300" b="0" i="0">
                <a:solidFill>
                  <a:srgbClr val="1A1A1A"/>
                </a:solidFill>
                <a:latin typeface="Times New Roman"/>
              </a:rPr>
              <a:t>Age</a:t>
            </a:r>
          </a:p>
          <a:p>
            <a:pPr algn="l">
              <a:spcAft>
                <a:spcPts val="500"/>
              </a:spcAft>
            </a:pPr>
            <a:r>
              <a:rPr sz="1300" b="0" i="0">
                <a:solidFill>
                  <a:srgbClr val="1A1A1A"/>
                </a:solidFill>
                <a:latin typeface="Times New Roman"/>
              </a:rPr>
              <a:t>Monthly income</a:t>
            </a:r>
          </a:p>
          <a:p>
            <a:pPr algn="l">
              <a:spcAft>
                <a:spcPts val="500"/>
              </a:spcAft>
            </a:pPr>
            <a:r>
              <a:rPr sz="1300" b="0" i="0">
                <a:solidFill>
                  <a:srgbClr val="1A1A1A"/>
                </a:solidFill>
                <a:latin typeface="Times New Roman"/>
              </a:rPr>
              <a:t>Dependents</a:t>
            </a:r>
          </a:p>
        </p:txBody>
      </p:sp>
      <p:cxnSp>
        <p:nvCxnSpPr>
          <p:cNvPr id="17" name="Connector 16"/>
          <p:cNvCxnSpPr/>
          <p:nvPr/>
        </p:nvCxnSpPr>
        <p:spPr>
          <a:xfrm>
            <a:off x="3200400" y="4709160"/>
            <a:ext cx="0" cy="41148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arget"/>
          <p:cNvSpPr/>
          <p:nvPr/>
        </p:nvSpPr>
        <p:spPr>
          <a:xfrm>
            <a:off x="457200" y="5120640"/>
            <a:ext cx="5486400" cy="1078992"/>
          </a:xfrm>
          <a:prstGeom prst="rect">
            <a:avLst/>
          </a:prstGeom>
          <a:solidFill>
            <a:srgbClr val="F8DCDC"/>
          </a:solidFill>
          <a:ln w="19050">
            <a:solidFill>
              <a:srgbClr val="B5483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300"/>
              </a:spcAft>
            </a:pPr>
            <a:r>
              <a:rPr sz="1500" b="1" i="0">
                <a:solidFill>
                  <a:srgbClr val="B5483F"/>
                </a:solidFill>
                <a:latin typeface="Book Antiqua"/>
              </a:rPr>
              <a:t>Target: SeriousDlqin2yrs</a:t>
            </a:r>
          </a:p>
          <a:p>
            <a:pPr algn="ctr"/>
            <a:r>
              <a:rPr sz="1300" b="0" i="0">
                <a:solidFill>
                  <a:srgbClr val="1A1A1A"/>
                </a:solidFill>
                <a:latin typeface="Times New Roman"/>
              </a:rPr>
              <a:t>1 = 90+ days past due within two years      0 = otherwise</a:t>
            </a:r>
          </a:p>
        </p:txBody>
      </p:sp>
      <p:sp>
        <p:nvSpPr>
          <p:cNvPr id="19" name="Section label"/>
          <p:cNvSpPr txBox="1"/>
          <p:nvPr/>
        </p:nvSpPr>
        <p:spPr>
          <a:xfrm>
            <a:off x="6245352" y="1371600"/>
            <a:ext cx="5486400" cy="274320"/>
          </a:xfrm>
          <a:prstGeom prst="rect">
            <a:avLst/>
          </a:prstGeom>
          <a:noFill/>
        </p:spPr>
        <p:txBody>
          <a:bodyPr wrap="square" lIns="0" tIns="0" rIns="0" bIns="0" anchor="t">
            <a:spAutoFit/>
          </a:bodyPr>
          <a:lstStyle/>
          <a:p>
            <a:pPr algn="l"/>
            <a:r>
              <a:rPr sz="1400" b="1" i="0">
                <a:solidFill>
                  <a:srgbClr val="1A1A1A"/>
                </a:solidFill>
                <a:latin typeface="Book Antiqua"/>
              </a:rPr>
              <a:t>Class balance: the delinquent class is rare</a:t>
            </a:r>
          </a:p>
        </p:txBody>
      </p:sp>
      <p:graphicFrame>
        <p:nvGraphicFramePr>
          <p:cNvPr id="20" name="Class balance chart"/>
          <p:cNvGraphicFramePr>
            <a:graphicFrameLocks noGrp="1"/>
          </p:cNvGraphicFramePr>
          <p:nvPr/>
        </p:nvGraphicFramePr>
        <p:xfrm>
          <a:off x="6245352" y="1664208"/>
          <a:ext cx="5486400" cy="1783080"/>
        </p:xfrm>
        <a:graphic>
          <a:graphicData uri="http://schemas.openxmlformats.org/drawingml/2006/chart">
            <c:chart xmlns:c="http://schemas.openxmlformats.org/drawingml/2006/chart" xmlns:r="http://schemas.openxmlformats.org/officeDocument/2006/relationships" r:id="rId3"/>
          </a:graphicData>
        </a:graphic>
      </p:graphicFrame>
      <p:sp>
        <p:nvSpPr>
          <p:cNvPr id="21" name="Imbalance note"/>
          <p:cNvSpPr txBox="1"/>
          <p:nvPr/>
        </p:nvSpPr>
        <p:spPr>
          <a:xfrm>
            <a:off x="6245352" y="3474720"/>
            <a:ext cx="5486400" cy="310896"/>
          </a:xfrm>
          <a:prstGeom prst="rect">
            <a:avLst/>
          </a:prstGeom>
          <a:noFill/>
        </p:spPr>
        <p:txBody>
          <a:bodyPr wrap="square" lIns="0" tIns="0" rIns="0" bIns="0" anchor="t">
            <a:spAutoFit/>
          </a:bodyPr>
          <a:lstStyle/>
          <a:p>
            <a:pPr algn="l"/>
            <a:r>
              <a:rPr sz="1300" b="0" i="1">
                <a:solidFill>
                  <a:srgbClr val="555555"/>
                </a:solidFill>
                <a:latin typeface="Times New Roman"/>
              </a:rPr>
              <a:t>Always answering â€œnoâ€ scores 93.3% accuracy and catches no one.</a:t>
            </a:r>
          </a:p>
        </p:txBody>
      </p:sp>
      <p:sp>
        <p:nvSpPr>
          <p:cNvPr id="22" name="Section label"/>
          <p:cNvSpPr txBox="1"/>
          <p:nvPr/>
        </p:nvSpPr>
        <p:spPr>
          <a:xfrm>
            <a:off x="6245352" y="3858768"/>
            <a:ext cx="5486400" cy="274320"/>
          </a:xfrm>
          <a:prstGeom prst="rect">
            <a:avLst/>
          </a:prstGeom>
          <a:noFill/>
        </p:spPr>
        <p:txBody>
          <a:bodyPr wrap="square" lIns="0" tIns="0" rIns="0" bIns="0" anchor="t">
            <a:spAutoFit/>
          </a:bodyPr>
          <a:lstStyle/>
          <a:p>
            <a:pPr algn="l"/>
            <a:r>
              <a:rPr sz="1400" b="1" i="0">
                <a:solidFill>
                  <a:srgbClr val="1A1A1A"/>
                </a:solidFill>
                <a:latin typeface="Book Antiqua"/>
              </a:rPr>
              <a:t>Data issues found, and what was done</a:t>
            </a:r>
          </a:p>
        </p:txBody>
      </p:sp>
      <p:graphicFrame>
        <p:nvGraphicFramePr>
          <p:cNvPr id="23" name="Data issues table"/>
          <p:cNvGraphicFramePr>
            <a:graphicFrameLocks noGrp="1"/>
          </p:cNvGraphicFramePr>
          <p:nvPr/>
        </p:nvGraphicFramePr>
        <p:xfrm>
          <a:off x="6245352" y="4169663"/>
          <a:ext cx="5486400" cy="2029968"/>
        </p:xfrm>
        <a:graphic>
          <a:graphicData uri="http://schemas.openxmlformats.org/drawingml/2006/table">
            <a:tbl>
              <a:tblPr>
                <a:tableStyleId>{2D5ABB26-0587-4C30-8999-92F81FD0307C}</a:tableStyleId>
              </a:tblPr>
              <a:tblGrid>
                <a:gridCol w="251460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38328">
                <a:tc>
                  <a:txBody>
                    <a:bodyPr/>
                    <a:lstStyle/>
                    <a:p>
                      <a:pPr algn="l"/>
                      <a:r>
                        <a:rPr sz="1200" b="1" i="0">
                          <a:solidFill>
                            <a:srgbClr val="1A1A1A"/>
                          </a:solidFill>
                          <a:latin typeface="Times New Roman"/>
                        </a:rPr>
                        <a:t>Issue</a:t>
                      </a:r>
                    </a:p>
                  </a:txBody>
                  <a:tcPr marL="73152" marR="73152" marT="27432" marB="27432" anchor="ctr">
                    <a:lnL w="0">
                      <a:noFill/>
                    </a:lnL>
                    <a:lnR w="0">
                      <a:noFill/>
                    </a:lnR>
                    <a:lnT w="0">
                      <a:noFill/>
                    </a:lnT>
                    <a:lnB w="9525">
                      <a:solidFill>
                        <a:srgbClr val="2B2B2B"/>
                      </a:solidFill>
                    </a:lnB>
                    <a:solidFill>
                      <a:srgbClr val="D9E7F5"/>
                    </a:solidFill>
                  </a:tcPr>
                </a:tc>
                <a:tc>
                  <a:txBody>
                    <a:bodyPr/>
                    <a:lstStyle/>
                    <a:p>
                      <a:pPr algn="ctr"/>
                      <a:r>
                        <a:rPr sz="1200" b="1" i="0">
                          <a:solidFill>
                            <a:srgbClr val="1A1A1A"/>
                          </a:solidFill>
                          <a:latin typeface="Times New Roman"/>
                        </a:rPr>
                        <a:t>Affected</a:t>
                      </a:r>
                    </a:p>
                  </a:txBody>
                  <a:tcPr marL="73152" marR="73152" marT="27432" marB="27432" anchor="ctr">
                    <a:lnL w="0">
                      <a:noFill/>
                    </a:lnL>
                    <a:lnR w="0">
                      <a:noFill/>
                    </a:lnR>
                    <a:lnT w="0">
                      <a:noFill/>
                    </a:lnT>
                    <a:lnB w="9525">
                      <a:solidFill>
                        <a:srgbClr val="2B2B2B"/>
                      </a:solidFill>
                    </a:lnB>
                    <a:solidFill>
                      <a:srgbClr val="D9E7F5"/>
                    </a:solidFill>
                  </a:tcPr>
                </a:tc>
                <a:tc>
                  <a:txBody>
                    <a:bodyPr/>
                    <a:lstStyle/>
                    <a:p>
                      <a:pPr algn="ctr"/>
                      <a:r>
                        <a:rPr sz="1200" b="1" i="0">
                          <a:solidFill>
                            <a:srgbClr val="1A1A1A"/>
                          </a:solidFill>
                          <a:latin typeface="Times New Roman"/>
                        </a:rPr>
                        <a:t>Handling</a:t>
                      </a:r>
                    </a:p>
                  </a:txBody>
                  <a:tcPr marL="73152" marR="73152" marT="27432" marB="27432" anchor="ctr">
                    <a:lnL w="0">
                      <a:noFill/>
                    </a:lnL>
                    <a:lnR w="0">
                      <a:noFill/>
                    </a:lnR>
                    <a:lnT w="0">
                      <a:noFill/>
                    </a:lnT>
                    <a:lnB w="9525">
                      <a:solidFill>
                        <a:srgbClr val="2B2B2B"/>
                      </a:solidFill>
                    </a:lnB>
                    <a:solidFill>
                      <a:srgbClr val="D9E7F5"/>
                    </a:solidFill>
                  </a:tcPr>
                </a:tc>
                <a:extLst>
                  <a:ext uri="{0D108BD9-81ED-4DB2-BD59-A6C34878D82A}">
                    <a16:rowId xmlns:a16="http://schemas.microsoft.com/office/drawing/2014/main" val="10000"/>
                  </a:ext>
                </a:extLst>
              </a:tr>
              <a:tr h="338328">
                <a:tc>
                  <a:txBody>
                    <a:bodyPr/>
                    <a:lstStyle/>
                    <a:p>
                      <a:pPr algn="l"/>
                      <a:r>
                        <a:rPr sz="1200" b="0" i="0">
                          <a:solidFill>
                            <a:srgbClr val="1A1A1A"/>
                          </a:solidFill>
                          <a:latin typeface="Times New Roman"/>
                        </a:rPr>
                        <a:t>Monthly income missing</a:t>
                      </a:r>
                    </a:p>
                  </a:txBody>
                  <a:tcPr marL="73152" marR="73152" marT="27432" marB="27432" anchor="ctr">
                    <a:lnL w="0">
                      <a:noFill/>
                    </a:lnL>
                    <a:lnR w="0">
                      <a:noFill/>
                    </a:lnR>
                    <a:lnT w="9525" cap="flat" cmpd="sng" algn="ctr">
                      <a:solidFill>
                        <a:srgbClr val="2B2B2B"/>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19.82%</a:t>
                      </a:r>
                    </a:p>
                  </a:txBody>
                  <a:tcPr marL="73152" marR="73152" marT="27432" marB="27432" anchor="ctr">
                    <a:lnL w="0">
                      <a:noFill/>
                    </a:lnL>
                    <a:lnR w="0">
                      <a:noFill/>
                    </a:lnR>
                    <a:lnT w="9525" cap="flat" cmpd="sng" algn="ctr">
                      <a:solidFill>
                        <a:srgbClr val="2B2B2B"/>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Median + flag</a:t>
                      </a:r>
                    </a:p>
                  </a:txBody>
                  <a:tcPr marL="73152" marR="73152" marT="27432" marB="27432" anchor="ctr">
                    <a:lnL w="0">
                      <a:noFill/>
                    </a:lnL>
                    <a:lnR w="0">
                      <a:noFill/>
                    </a:lnR>
                    <a:lnT w="9525" cap="flat" cmpd="sng" algn="ctr">
                      <a:solidFill>
                        <a:srgbClr val="2B2B2B"/>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1"/>
                  </a:ext>
                </a:extLst>
              </a:tr>
              <a:tr h="338328">
                <a:tc>
                  <a:txBody>
                    <a:bodyPr/>
                    <a:lstStyle/>
                    <a:p>
                      <a:pPr algn="l"/>
                      <a:r>
                        <a:rPr sz="1200" b="0" i="0">
                          <a:solidFill>
                            <a:srgbClr val="1A1A1A"/>
                          </a:solidFill>
                          <a:latin typeface="Times New Roman"/>
                        </a:rPr>
                        <a:t>Dependents missing</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2.62%</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Median + flag</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2"/>
                  </a:ext>
                </a:extLst>
              </a:tr>
              <a:tr h="338328">
                <a:tc>
                  <a:txBody>
                    <a:bodyPr/>
                    <a:lstStyle/>
                    <a:p>
                      <a:pPr algn="l"/>
                      <a:r>
                        <a:rPr sz="1200" b="0" i="0">
                          <a:solidFill>
                            <a:srgbClr val="1A1A1A"/>
                          </a:solidFill>
                          <a:latin typeface="Times New Roman"/>
                        </a:rPr>
                        <a:t>Late counts coded 96 / 98</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269 rows</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Flag: 54.65% positive</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3"/>
                  </a:ext>
                </a:extLst>
              </a:tr>
              <a:tr h="338328">
                <a:tc>
                  <a:txBody>
                    <a:bodyPr/>
                    <a:lstStyle/>
                    <a:p>
                      <a:pPr algn="l"/>
                      <a:r>
                        <a:rPr sz="1200" b="0" i="0">
                          <a:solidFill>
                            <a:srgbClr val="1A1A1A"/>
                          </a:solidFill>
                          <a:latin typeface="Times New Roman"/>
                        </a:rPr>
                        <a:t>Age equal to 0</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1 row</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Treated as missing</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4"/>
                  </a:ext>
                </a:extLst>
              </a:tr>
              <a:tr h="338328">
                <a:tc>
                  <a:txBody>
                    <a:bodyPr/>
                    <a:lstStyle/>
                    <a:p>
                      <a:pPr algn="l"/>
                      <a:r>
                        <a:rPr sz="1200" b="0" i="0">
                          <a:solidFill>
                            <a:srgbClr val="1A1A1A"/>
                          </a:solidFill>
                          <a:latin typeface="Times New Roman"/>
                        </a:rPr>
                        <a:t>Outliers, duplicate rows</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kept</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tc>
                  <a:txBody>
                    <a:bodyPr/>
                    <a:lstStyle/>
                    <a:p>
                      <a:pPr algn="ctr"/>
                      <a:r>
                        <a:rPr sz="1200" b="0" i="0">
                          <a:solidFill>
                            <a:srgbClr val="1A1A1A"/>
                          </a:solidFill>
                          <a:latin typeface="Times New Roman"/>
                        </a:rPr>
                        <a:t>Trees are rank-based</a:t>
                      </a:r>
                    </a:p>
                  </a:txBody>
                  <a:tcPr marL="73152" marR="73152" marT="27432" marB="27432" anchor="ctr">
                    <a:lnL w="0">
                      <a:noFill/>
                    </a:lnL>
                    <a:lnR w="0">
                      <a:noFill/>
                    </a:lnR>
                    <a:lnT w="9525" cap="flat" cmpd="sng" algn="ctr">
                      <a:solidFill>
                        <a:srgbClr val="D9D9D9"/>
                      </a:solidFill>
                      <a:prstDash val="solid"/>
                      <a:round/>
                      <a:headEnd type="none" w="med" len="med"/>
                      <a:tailEnd type="none" w="med" len="med"/>
                    </a:lnT>
                    <a:lnB w="9525">
                      <a:solidFill>
                        <a:srgbClr val="D9D9D9"/>
                      </a:solidFill>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11274552" cy="658368"/>
          </a:xfrm>
        </p:spPr>
        <p:txBody>
          <a:bodyPr wrap="square" lIns="0" tIns="0" rIns="0" bIns="0" anchor="ctr"/>
          <a:lstStyle/>
          <a:p>
            <a:pPr algn="ctr"/>
            <a:r>
              <a:rPr sz="3000" b="1" i="0">
                <a:solidFill>
                  <a:srgbClr val="1A1A1A"/>
                </a:solidFill>
                <a:latin typeface="Book Antiqua"/>
              </a:rPr>
              <a:t>Methodology and Algorithm</a:t>
            </a:r>
          </a:p>
        </p:txBody>
      </p:sp>
      <p:sp>
        <p:nvSpPr>
          <p:cNvPr id="3" name="Subtitle"/>
          <p:cNvSpPr txBox="1"/>
          <p:nvPr/>
        </p:nvSpPr>
        <p:spPr>
          <a:xfrm>
            <a:off x="457200" y="841248"/>
            <a:ext cx="11274552" cy="329184"/>
          </a:xfrm>
          <a:prstGeom prst="rect">
            <a:avLst/>
          </a:prstGeom>
          <a:noFill/>
        </p:spPr>
        <p:txBody>
          <a:bodyPr wrap="square" lIns="0" tIns="0" rIns="0" bIns="0" anchor="t">
            <a:spAutoFit/>
          </a:bodyPr>
          <a:lstStyle/>
          <a:p>
            <a:pPr algn="ctr"/>
            <a:r>
              <a:rPr sz="1500" b="0" i="1">
                <a:solidFill>
                  <a:srgbClr val="555555"/>
                </a:solidFill>
                <a:latin typeface="Times New Roman"/>
              </a:rPr>
              <a:t>A leakage-free pipeline around a Random Forest classifier</a:t>
            </a:r>
          </a:p>
        </p:txBody>
      </p:sp>
      <p:sp>
        <p:nvSpPr>
          <p:cNvPr id="4" name="Step 1"/>
          <p:cNvSpPr/>
          <p:nvPr/>
        </p:nvSpPr>
        <p:spPr>
          <a:xfrm>
            <a:off x="457200" y="1371600"/>
            <a:ext cx="1719072" cy="1691640"/>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Step 1 header"/>
          <p:cNvSpPr/>
          <p:nvPr/>
        </p:nvSpPr>
        <p:spPr>
          <a:xfrm>
            <a:off x="457200" y="1371600"/>
            <a:ext cx="1719072" cy="502920"/>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502920" tIns="18288" rIns="45720" bIns="18288" rtlCol="0" anchor="ctr"/>
          <a:lstStyle/>
          <a:p>
            <a:pPr algn="l"/>
            <a:r>
              <a:rPr sz="1300" b="1" i="0">
                <a:solidFill>
                  <a:srgbClr val="1A1A1A"/>
                </a:solidFill>
                <a:latin typeface="Times New Roman"/>
              </a:rPr>
              <a:t>Load</a:t>
            </a:r>
          </a:p>
        </p:txBody>
      </p:sp>
      <p:sp>
        <p:nvSpPr>
          <p:cNvPr id="6" name="Oval 5"/>
          <p:cNvSpPr/>
          <p:nvPr/>
        </p:nvSpPr>
        <p:spPr>
          <a:xfrm>
            <a:off x="548640" y="1449324"/>
            <a:ext cx="347472" cy="347472"/>
          </a:xfrm>
          <a:prstGeom prst="ellipse">
            <a:avLst/>
          </a:prstGeom>
          <a:solidFill>
            <a:srgbClr val="FFFFFF"/>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1</a:t>
            </a:r>
          </a:p>
        </p:txBody>
      </p:sp>
      <p:sp>
        <p:nvSpPr>
          <p:cNvPr id="7" name="Step 1 text"/>
          <p:cNvSpPr txBox="1"/>
          <p:nvPr/>
        </p:nvSpPr>
        <p:spPr>
          <a:xfrm>
            <a:off x="548640" y="1965960"/>
            <a:ext cx="1536192" cy="1051560"/>
          </a:xfrm>
          <a:prstGeom prst="rect">
            <a:avLst/>
          </a:prstGeom>
          <a:noFill/>
        </p:spPr>
        <p:txBody>
          <a:bodyPr wrap="square" lIns="0" tIns="0" rIns="0" bIns="0" anchor="t">
            <a:spAutoFit/>
          </a:bodyPr>
          <a:lstStyle/>
          <a:p>
            <a:pPr algn="l"/>
            <a:r>
              <a:rPr sz="1250" b="0" i="0">
                <a:solidFill>
                  <a:srgbClr val="1A1A1A"/>
                </a:solidFill>
                <a:latin typeface="Times New Roman"/>
              </a:rPr>
              <a:t>150,000 labelled rows, 10 predictors, row index dropped</a:t>
            </a:r>
          </a:p>
        </p:txBody>
      </p:sp>
      <p:cxnSp>
        <p:nvCxnSpPr>
          <p:cNvPr id="8" name="Connector 7"/>
          <p:cNvCxnSpPr/>
          <p:nvPr/>
        </p:nvCxnSpPr>
        <p:spPr>
          <a:xfrm>
            <a:off x="2185415" y="2217420"/>
            <a:ext cx="164593"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Step 2"/>
          <p:cNvSpPr/>
          <p:nvPr/>
        </p:nvSpPr>
        <p:spPr>
          <a:xfrm>
            <a:off x="2359152" y="1371600"/>
            <a:ext cx="1719072" cy="1691640"/>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tep 2 header"/>
          <p:cNvSpPr/>
          <p:nvPr/>
        </p:nvSpPr>
        <p:spPr>
          <a:xfrm>
            <a:off x="2359152" y="1371600"/>
            <a:ext cx="1719072" cy="502920"/>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502920" tIns="18288" rIns="45720" bIns="18288" rtlCol="0" anchor="ctr"/>
          <a:lstStyle/>
          <a:p>
            <a:pPr algn="l"/>
            <a:r>
              <a:rPr sz="1300" b="1" i="0">
                <a:solidFill>
                  <a:srgbClr val="1A1A1A"/>
                </a:solidFill>
                <a:latin typeface="Times New Roman"/>
              </a:rPr>
              <a:t>Clean + impute</a:t>
            </a:r>
          </a:p>
        </p:txBody>
      </p:sp>
      <p:sp>
        <p:nvSpPr>
          <p:cNvPr id="11" name="Oval 10"/>
          <p:cNvSpPr/>
          <p:nvPr/>
        </p:nvSpPr>
        <p:spPr>
          <a:xfrm>
            <a:off x="2450592" y="1449324"/>
            <a:ext cx="347472" cy="347472"/>
          </a:xfrm>
          <a:prstGeom prst="ellipse">
            <a:avLst/>
          </a:prstGeom>
          <a:solidFill>
            <a:srgbClr val="FFFFFF"/>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2</a:t>
            </a:r>
          </a:p>
        </p:txBody>
      </p:sp>
      <p:sp>
        <p:nvSpPr>
          <p:cNvPr id="12" name="Step 2 text"/>
          <p:cNvSpPr txBox="1"/>
          <p:nvPr/>
        </p:nvSpPr>
        <p:spPr>
          <a:xfrm>
            <a:off x="2450592" y="1965960"/>
            <a:ext cx="1536192" cy="1051560"/>
          </a:xfrm>
          <a:prstGeom prst="rect">
            <a:avLst/>
          </a:prstGeom>
          <a:noFill/>
        </p:spPr>
        <p:txBody>
          <a:bodyPr wrap="square" lIns="0" tIns="0" rIns="0" bIns="0" anchor="t">
            <a:spAutoFit/>
          </a:bodyPr>
          <a:lstStyle/>
          <a:p>
            <a:pPr algn="l"/>
            <a:r>
              <a:rPr sz="1250" b="0" i="0">
                <a:solidFill>
                  <a:srgbClr val="1A1A1A"/>
                </a:solidFill>
                <a:latin typeface="Times New Roman"/>
              </a:rPr>
              <a:t>96/98 codes and age &lt; 18 become missing. Median fill plus missing flags</a:t>
            </a:r>
          </a:p>
        </p:txBody>
      </p:sp>
      <p:cxnSp>
        <p:nvCxnSpPr>
          <p:cNvPr id="13" name="Connector 12"/>
          <p:cNvCxnSpPr/>
          <p:nvPr/>
        </p:nvCxnSpPr>
        <p:spPr>
          <a:xfrm>
            <a:off x="4087368" y="2217420"/>
            <a:ext cx="164592"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Step 3"/>
          <p:cNvSpPr/>
          <p:nvPr/>
        </p:nvSpPr>
        <p:spPr>
          <a:xfrm>
            <a:off x="4261104" y="1371600"/>
            <a:ext cx="1719072" cy="1691640"/>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tep 3 header"/>
          <p:cNvSpPr/>
          <p:nvPr/>
        </p:nvSpPr>
        <p:spPr>
          <a:xfrm>
            <a:off x="4261104" y="1371600"/>
            <a:ext cx="1719072" cy="502920"/>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502920" tIns="18288" rIns="45720" bIns="18288" rtlCol="0" anchor="ctr"/>
          <a:lstStyle/>
          <a:p>
            <a:pPr algn="l"/>
            <a:r>
              <a:rPr sz="1300" b="1" i="0">
                <a:solidFill>
                  <a:srgbClr val="1A1A1A"/>
                </a:solidFill>
                <a:latin typeface="Times New Roman"/>
              </a:rPr>
              <a:t>Split</a:t>
            </a:r>
          </a:p>
        </p:txBody>
      </p:sp>
      <p:sp>
        <p:nvSpPr>
          <p:cNvPr id="16" name="Oval 15"/>
          <p:cNvSpPr/>
          <p:nvPr/>
        </p:nvSpPr>
        <p:spPr>
          <a:xfrm>
            <a:off x="4352544" y="1449324"/>
            <a:ext cx="347472" cy="347472"/>
          </a:xfrm>
          <a:prstGeom prst="ellipse">
            <a:avLst/>
          </a:prstGeom>
          <a:solidFill>
            <a:srgbClr val="FFFFFF"/>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3</a:t>
            </a:r>
          </a:p>
        </p:txBody>
      </p:sp>
      <p:sp>
        <p:nvSpPr>
          <p:cNvPr id="17" name="Step 3 text"/>
          <p:cNvSpPr txBox="1"/>
          <p:nvPr/>
        </p:nvSpPr>
        <p:spPr>
          <a:xfrm>
            <a:off x="4352544" y="1965960"/>
            <a:ext cx="1536192" cy="1051560"/>
          </a:xfrm>
          <a:prstGeom prst="rect">
            <a:avLst/>
          </a:prstGeom>
          <a:noFill/>
        </p:spPr>
        <p:txBody>
          <a:bodyPr wrap="square" lIns="0" tIns="0" rIns="0" bIns="0" anchor="t">
            <a:spAutoFit/>
          </a:bodyPr>
          <a:lstStyle/>
          <a:p>
            <a:pPr algn="l"/>
            <a:r>
              <a:rPr sz="1250" b="0" i="0">
                <a:solidFill>
                  <a:srgbClr val="1A1A1A"/>
                </a:solidFill>
                <a:latin typeface="Times New Roman"/>
              </a:rPr>
              <a:t>Stratified 60 / 20 / 20: 90,000 train, 30,000 validation, 30,000 test</a:t>
            </a:r>
          </a:p>
        </p:txBody>
      </p:sp>
      <p:cxnSp>
        <p:nvCxnSpPr>
          <p:cNvPr id="18" name="Connector 17"/>
          <p:cNvCxnSpPr/>
          <p:nvPr/>
        </p:nvCxnSpPr>
        <p:spPr>
          <a:xfrm>
            <a:off x="5989320" y="2217420"/>
            <a:ext cx="164592"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Step 4"/>
          <p:cNvSpPr/>
          <p:nvPr/>
        </p:nvSpPr>
        <p:spPr>
          <a:xfrm>
            <a:off x="6163056" y="1371600"/>
            <a:ext cx="1719072" cy="1691640"/>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tep 4 header"/>
          <p:cNvSpPr/>
          <p:nvPr/>
        </p:nvSpPr>
        <p:spPr>
          <a:xfrm>
            <a:off x="6163056" y="1371600"/>
            <a:ext cx="1719072" cy="502920"/>
          </a:xfrm>
          <a:prstGeom prst="rect">
            <a:avLst/>
          </a:prstGeom>
          <a:solidFill>
            <a:srgbClr val="FBEFC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502920" tIns="18288" rIns="45720" bIns="18288" rtlCol="0" anchor="ctr"/>
          <a:lstStyle/>
          <a:p>
            <a:pPr algn="l"/>
            <a:r>
              <a:rPr sz="1300" b="1" i="0">
                <a:solidFill>
                  <a:srgbClr val="1A1A1A"/>
                </a:solidFill>
                <a:latin typeface="Times New Roman"/>
              </a:rPr>
              <a:t>Compare</a:t>
            </a:r>
          </a:p>
        </p:txBody>
      </p:sp>
      <p:sp>
        <p:nvSpPr>
          <p:cNvPr id="21" name="Oval 20"/>
          <p:cNvSpPr/>
          <p:nvPr/>
        </p:nvSpPr>
        <p:spPr>
          <a:xfrm>
            <a:off x="6254496" y="1449324"/>
            <a:ext cx="347472" cy="347472"/>
          </a:xfrm>
          <a:prstGeom prst="ellipse">
            <a:avLst/>
          </a:prstGeom>
          <a:solidFill>
            <a:srgbClr val="FFFFFF"/>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4</a:t>
            </a:r>
          </a:p>
        </p:txBody>
      </p:sp>
      <p:sp>
        <p:nvSpPr>
          <p:cNvPr id="22" name="Step 4 text"/>
          <p:cNvSpPr txBox="1"/>
          <p:nvPr/>
        </p:nvSpPr>
        <p:spPr>
          <a:xfrm>
            <a:off x="6254496" y="1965960"/>
            <a:ext cx="1536192" cy="1051560"/>
          </a:xfrm>
          <a:prstGeom prst="rect">
            <a:avLst/>
          </a:prstGeom>
          <a:noFill/>
        </p:spPr>
        <p:txBody>
          <a:bodyPr wrap="square" lIns="0" tIns="0" rIns="0" bIns="0" anchor="t">
            <a:spAutoFit/>
          </a:bodyPr>
          <a:lstStyle/>
          <a:p>
            <a:pPr algn="l"/>
            <a:r>
              <a:rPr sz="1250" b="0" i="0">
                <a:solidFill>
                  <a:srgbClr val="1A1A1A"/>
                </a:solidFill>
                <a:latin typeface="Times New Roman"/>
              </a:rPr>
              <a:t>Five forests fitted on train, ranked by validation PR-AUC</a:t>
            </a:r>
          </a:p>
        </p:txBody>
      </p:sp>
      <p:cxnSp>
        <p:nvCxnSpPr>
          <p:cNvPr id="23" name="Connector 22"/>
          <p:cNvCxnSpPr/>
          <p:nvPr/>
        </p:nvCxnSpPr>
        <p:spPr>
          <a:xfrm>
            <a:off x="7891272" y="2217420"/>
            <a:ext cx="164592"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ep 5"/>
          <p:cNvSpPr/>
          <p:nvPr/>
        </p:nvSpPr>
        <p:spPr>
          <a:xfrm>
            <a:off x="8065008" y="1371600"/>
            <a:ext cx="1719072" cy="1691640"/>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Step 5 header"/>
          <p:cNvSpPr/>
          <p:nvPr/>
        </p:nvSpPr>
        <p:spPr>
          <a:xfrm>
            <a:off x="8065008" y="1371600"/>
            <a:ext cx="1719072" cy="502920"/>
          </a:xfrm>
          <a:prstGeom prst="rect">
            <a:avLst/>
          </a:prstGeom>
          <a:solidFill>
            <a:srgbClr val="FBEFC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502920" tIns="18288" rIns="45720" bIns="18288" rtlCol="0" anchor="ctr"/>
          <a:lstStyle/>
          <a:p>
            <a:pPr algn="l"/>
            <a:r>
              <a:rPr sz="1300" b="1" i="0">
                <a:solidFill>
                  <a:srgbClr val="1A1A1A"/>
                </a:solidFill>
                <a:latin typeface="Times New Roman"/>
              </a:rPr>
              <a:t>Set cut-off</a:t>
            </a:r>
          </a:p>
        </p:txBody>
      </p:sp>
      <p:sp>
        <p:nvSpPr>
          <p:cNvPr id="26" name="Oval 25"/>
          <p:cNvSpPr/>
          <p:nvPr/>
        </p:nvSpPr>
        <p:spPr>
          <a:xfrm>
            <a:off x="8156448" y="1449324"/>
            <a:ext cx="347472" cy="347472"/>
          </a:xfrm>
          <a:prstGeom prst="ellipse">
            <a:avLst/>
          </a:prstGeom>
          <a:solidFill>
            <a:srgbClr val="FFFFFF"/>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5</a:t>
            </a:r>
          </a:p>
        </p:txBody>
      </p:sp>
      <p:sp>
        <p:nvSpPr>
          <p:cNvPr id="27" name="Step 5 text"/>
          <p:cNvSpPr txBox="1"/>
          <p:nvPr/>
        </p:nvSpPr>
        <p:spPr>
          <a:xfrm>
            <a:off x="8156448" y="1965960"/>
            <a:ext cx="1536192" cy="1051560"/>
          </a:xfrm>
          <a:prstGeom prst="rect">
            <a:avLst/>
          </a:prstGeom>
          <a:noFill/>
        </p:spPr>
        <p:txBody>
          <a:bodyPr wrap="square" lIns="0" tIns="0" rIns="0" bIns="0" anchor="t">
            <a:spAutoFit/>
          </a:bodyPr>
          <a:lstStyle/>
          <a:p>
            <a:pPr algn="l"/>
            <a:r>
              <a:rPr sz="1250" b="0" i="0">
                <a:solidFill>
                  <a:srgbClr val="1A1A1A"/>
                </a:solidFill>
                <a:latin typeface="Times New Roman"/>
              </a:rPr>
              <a:t>Threshold 0.2302 chosen on validation by maximum F1</a:t>
            </a:r>
          </a:p>
        </p:txBody>
      </p:sp>
      <p:cxnSp>
        <p:nvCxnSpPr>
          <p:cNvPr id="28" name="Connector 27"/>
          <p:cNvCxnSpPr/>
          <p:nvPr/>
        </p:nvCxnSpPr>
        <p:spPr>
          <a:xfrm>
            <a:off x="9793224" y="2217420"/>
            <a:ext cx="164591"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Step 6"/>
          <p:cNvSpPr/>
          <p:nvPr/>
        </p:nvSpPr>
        <p:spPr>
          <a:xfrm>
            <a:off x="9966960" y="1371600"/>
            <a:ext cx="1719072" cy="1691640"/>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Step 6 header"/>
          <p:cNvSpPr/>
          <p:nvPr/>
        </p:nvSpPr>
        <p:spPr>
          <a:xfrm>
            <a:off x="9966960" y="1371600"/>
            <a:ext cx="1719072" cy="502920"/>
          </a:xfrm>
          <a:prstGeom prst="rect">
            <a:avLst/>
          </a:prstGeom>
          <a:solidFill>
            <a:srgbClr val="F8DCDC"/>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502920" tIns="18288" rIns="45720" bIns="18288" rtlCol="0" anchor="ctr"/>
          <a:lstStyle/>
          <a:p>
            <a:pPr algn="l"/>
            <a:r>
              <a:rPr sz="1300" b="1" i="0">
                <a:solidFill>
                  <a:srgbClr val="1A1A1A"/>
                </a:solidFill>
                <a:latin typeface="Times New Roman"/>
              </a:rPr>
              <a:t>Test once</a:t>
            </a:r>
          </a:p>
        </p:txBody>
      </p:sp>
      <p:sp>
        <p:nvSpPr>
          <p:cNvPr id="31" name="Oval 30"/>
          <p:cNvSpPr/>
          <p:nvPr/>
        </p:nvSpPr>
        <p:spPr>
          <a:xfrm>
            <a:off x="10058400" y="1449324"/>
            <a:ext cx="347472" cy="347472"/>
          </a:xfrm>
          <a:prstGeom prst="ellipse">
            <a:avLst/>
          </a:prstGeom>
          <a:solidFill>
            <a:srgbClr val="FFFFFF"/>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6</a:t>
            </a:r>
          </a:p>
        </p:txBody>
      </p:sp>
      <p:sp>
        <p:nvSpPr>
          <p:cNvPr id="32" name="Step 6 text"/>
          <p:cNvSpPr txBox="1"/>
          <p:nvPr/>
        </p:nvSpPr>
        <p:spPr>
          <a:xfrm>
            <a:off x="10058400" y="1965960"/>
            <a:ext cx="1536192" cy="1051560"/>
          </a:xfrm>
          <a:prstGeom prst="rect">
            <a:avLst/>
          </a:prstGeom>
          <a:noFill/>
        </p:spPr>
        <p:txBody>
          <a:bodyPr wrap="square" lIns="0" tIns="0" rIns="0" bIns="0" anchor="t">
            <a:spAutoFit/>
          </a:bodyPr>
          <a:lstStyle/>
          <a:p>
            <a:pPr algn="l"/>
            <a:r>
              <a:rPr sz="1250" b="0" i="0">
                <a:solidFill>
                  <a:srgbClr val="1A1A1A"/>
                </a:solidFill>
                <a:latin typeface="Times New Roman"/>
              </a:rPr>
              <a:t>Refit on train + validation, then score the untouched test set</a:t>
            </a:r>
          </a:p>
        </p:txBody>
      </p:sp>
      <p:sp>
        <p:nvSpPr>
          <p:cNvPr id="33" name="Pipeline note"/>
          <p:cNvSpPr txBox="1"/>
          <p:nvPr/>
        </p:nvSpPr>
        <p:spPr>
          <a:xfrm>
            <a:off x="457200" y="3154680"/>
            <a:ext cx="11274552" cy="310896"/>
          </a:xfrm>
          <a:prstGeom prst="rect">
            <a:avLst/>
          </a:prstGeom>
          <a:noFill/>
        </p:spPr>
        <p:txBody>
          <a:bodyPr wrap="square" lIns="0" tIns="0" rIns="0" bIns="0" anchor="t">
            <a:spAutoFit/>
          </a:bodyPr>
          <a:lstStyle/>
          <a:p>
            <a:pPr algn="ctr"/>
            <a:r>
              <a:rPr sz="1300" b="0" i="1">
                <a:solidFill>
                  <a:srgbClr val="555555"/>
                </a:solidFill>
                <a:latin typeface="Times New Roman"/>
              </a:rPr>
              <a:t>Every statistic is fitted on training data only. The test set is touched exactly once.</a:t>
            </a:r>
          </a:p>
        </p:txBody>
      </p:sp>
      <p:sp>
        <p:nvSpPr>
          <p:cNvPr id="34" name="Section label"/>
          <p:cNvSpPr txBox="1"/>
          <p:nvPr/>
        </p:nvSpPr>
        <p:spPr>
          <a:xfrm>
            <a:off x="457200" y="3547872"/>
            <a:ext cx="6400800" cy="274320"/>
          </a:xfrm>
          <a:prstGeom prst="rect">
            <a:avLst/>
          </a:prstGeom>
          <a:noFill/>
        </p:spPr>
        <p:txBody>
          <a:bodyPr wrap="square" lIns="0" tIns="0" rIns="0" bIns="0" anchor="t">
            <a:spAutoFit/>
          </a:bodyPr>
          <a:lstStyle/>
          <a:p>
            <a:pPr algn="l"/>
            <a:r>
              <a:rPr sz="1400" b="1" i="0">
                <a:solidFill>
                  <a:srgbClr val="1A1A1A"/>
                </a:solidFill>
                <a:latin typeface="Book Antiqua"/>
              </a:rPr>
              <a:t>How the forest produces a prediction</a:t>
            </a:r>
          </a:p>
        </p:txBody>
      </p:sp>
      <p:sp>
        <p:nvSpPr>
          <p:cNvPr id="35" name="Training data"/>
          <p:cNvSpPr/>
          <p:nvPr/>
        </p:nvSpPr>
        <p:spPr>
          <a:xfrm>
            <a:off x="457200" y="4343400"/>
            <a:ext cx="1051560" cy="1371600"/>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pPr>
            <a:r>
              <a:rPr sz="1250" b="1" i="0">
                <a:solidFill>
                  <a:srgbClr val="1A1A1A"/>
                </a:solidFill>
                <a:latin typeface="Times New Roman"/>
              </a:rPr>
              <a:t>Training data</a:t>
            </a:r>
          </a:p>
          <a:p>
            <a:pPr algn="ctr"/>
            <a:r>
              <a:rPr sz="1200" b="0" i="0">
                <a:solidFill>
                  <a:srgbClr val="1A1A1A"/>
                </a:solidFill>
                <a:latin typeface="Times New Roman"/>
              </a:rPr>
              <a:t>120,000 borrowers</a:t>
            </a:r>
          </a:p>
        </p:txBody>
      </p:sp>
      <p:sp>
        <p:nvSpPr>
          <p:cNvPr id="36" name="Sample 1"/>
          <p:cNvSpPr/>
          <p:nvPr/>
        </p:nvSpPr>
        <p:spPr>
          <a:xfrm>
            <a:off x="1828800" y="3931920"/>
            <a:ext cx="1417320" cy="603504"/>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0" i="0">
                <a:solidFill>
                  <a:srgbClr val="1A1A1A"/>
                </a:solidFill>
                <a:latin typeface="Times New Roman"/>
              </a:rPr>
              <a:t>Bootstrap sample 1</a:t>
            </a:r>
          </a:p>
        </p:txBody>
      </p:sp>
      <p:cxnSp>
        <p:nvCxnSpPr>
          <p:cNvPr id="37" name="Connector 36"/>
          <p:cNvCxnSpPr/>
          <p:nvPr/>
        </p:nvCxnSpPr>
        <p:spPr>
          <a:xfrm flipV="1">
            <a:off x="1517904" y="4233672"/>
            <a:ext cx="301752" cy="795528"/>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ree 1 frame"/>
          <p:cNvSpPr/>
          <p:nvPr/>
        </p:nvSpPr>
        <p:spPr>
          <a:xfrm>
            <a:off x="3611880" y="3931920"/>
            <a:ext cx="713232" cy="603504"/>
          </a:xfrm>
          <a:prstGeom prst="rect">
            <a:avLst/>
          </a:prstGeom>
          <a:solidFill>
            <a:srgbClr val="DDF0E3"/>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Connector 38"/>
          <p:cNvCxnSpPr/>
          <p:nvPr/>
        </p:nvCxnSpPr>
        <p:spPr>
          <a:xfrm flipH="1">
            <a:off x="3794760" y="4114800"/>
            <a:ext cx="173736" cy="237744"/>
          </a:xfrm>
          <a:prstGeom prst="line">
            <a:avLst/>
          </a:prstGeom>
          <a:ln w="12700">
            <a:solidFill>
              <a:srgbClr val="2B2B2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968496" y="4114800"/>
            <a:ext cx="173736" cy="237744"/>
          </a:xfrm>
          <a:prstGeom prst="line">
            <a:avLst/>
          </a:prstGeom>
          <a:ln w="12700">
            <a:solidFill>
              <a:srgbClr val="2B2B2B"/>
            </a:solidFill>
          </a:ln>
        </p:spPr>
        <p:style>
          <a:lnRef idx="2">
            <a:schemeClr val="accent1"/>
          </a:lnRef>
          <a:fillRef idx="0">
            <a:schemeClr val="accent1"/>
          </a:fillRef>
          <a:effectRef idx="1">
            <a:schemeClr val="accent1"/>
          </a:effectRef>
          <a:fontRef idx="minor">
            <a:schemeClr val="tx1"/>
          </a:fontRef>
        </p:style>
      </p:cxnSp>
      <p:sp>
        <p:nvSpPr>
          <p:cNvPr id="41" name="Tree 1 node"/>
          <p:cNvSpPr/>
          <p:nvPr/>
        </p:nvSpPr>
        <p:spPr>
          <a:xfrm>
            <a:off x="3877056" y="3995928"/>
            <a:ext cx="182880" cy="182880"/>
          </a:xfrm>
          <a:prstGeom prst="ellipse">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ree 1 node"/>
          <p:cNvSpPr/>
          <p:nvPr/>
        </p:nvSpPr>
        <p:spPr>
          <a:xfrm>
            <a:off x="3717036" y="4311396"/>
            <a:ext cx="155448" cy="155448"/>
          </a:xfrm>
          <a:prstGeom prst="ellipse">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ree 1 node"/>
          <p:cNvSpPr/>
          <p:nvPr/>
        </p:nvSpPr>
        <p:spPr>
          <a:xfrm>
            <a:off x="4064508" y="4311396"/>
            <a:ext cx="155448" cy="155448"/>
          </a:xfrm>
          <a:prstGeom prst="ellipse">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4" name="Connector 43"/>
          <p:cNvCxnSpPr/>
          <p:nvPr/>
        </p:nvCxnSpPr>
        <p:spPr>
          <a:xfrm>
            <a:off x="3255264" y="4233672"/>
            <a:ext cx="347472"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Vote 1"/>
          <p:cNvSpPr/>
          <p:nvPr/>
        </p:nvSpPr>
        <p:spPr>
          <a:xfrm>
            <a:off x="4572000" y="4005072"/>
            <a:ext cx="749808" cy="457200"/>
          </a:xfrm>
          <a:prstGeom prst="rect">
            <a:avLst/>
          </a:prstGeom>
          <a:solidFill>
            <a:srgbClr val="F8DCDC"/>
          </a:solidFill>
          <a:ln w="12700">
            <a:solidFill>
              <a:srgbClr val="B5483F"/>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200" b="1" i="0">
                <a:solidFill>
                  <a:srgbClr val="1A1A1A"/>
                </a:solidFill>
                <a:latin typeface="Times New Roman"/>
              </a:rPr>
              <a:t>0.81</a:t>
            </a:r>
          </a:p>
        </p:txBody>
      </p:sp>
      <p:cxnSp>
        <p:nvCxnSpPr>
          <p:cNvPr id="46" name="Connector 45"/>
          <p:cNvCxnSpPr/>
          <p:nvPr/>
        </p:nvCxnSpPr>
        <p:spPr>
          <a:xfrm>
            <a:off x="4334256" y="4233672"/>
            <a:ext cx="228600"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Sample 2"/>
          <p:cNvSpPr/>
          <p:nvPr/>
        </p:nvSpPr>
        <p:spPr>
          <a:xfrm>
            <a:off x="1828800" y="4754880"/>
            <a:ext cx="1417320" cy="603504"/>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0" i="0">
                <a:solidFill>
                  <a:srgbClr val="1A1A1A"/>
                </a:solidFill>
                <a:latin typeface="Times New Roman"/>
              </a:rPr>
              <a:t>Bootstrap sample 2</a:t>
            </a:r>
          </a:p>
        </p:txBody>
      </p:sp>
      <p:cxnSp>
        <p:nvCxnSpPr>
          <p:cNvPr id="48" name="Connector 47"/>
          <p:cNvCxnSpPr/>
          <p:nvPr/>
        </p:nvCxnSpPr>
        <p:spPr>
          <a:xfrm>
            <a:off x="1517904" y="5029200"/>
            <a:ext cx="301752" cy="27432"/>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Tree 2 frame"/>
          <p:cNvSpPr/>
          <p:nvPr/>
        </p:nvSpPr>
        <p:spPr>
          <a:xfrm>
            <a:off x="3611880" y="4754880"/>
            <a:ext cx="713232" cy="603504"/>
          </a:xfrm>
          <a:prstGeom prst="rect">
            <a:avLst/>
          </a:prstGeom>
          <a:solidFill>
            <a:srgbClr val="DDF0E3"/>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0" name="Connector 49"/>
          <p:cNvCxnSpPr/>
          <p:nvPr/>
        </p:nvCxnSpPr>
        <p:spPr>
          <a:xfrm flipH="1">
            <a:off x="3794760" y="4937760"/>
            <a:ext cx="173736" cy="237744"/>
          </a:xfrm>
          <a:prstGeom prst="line">
            <a:avLst/>
          </a:prstGeom>
          <a:ln w="12700">
            <a:solidFill>
              <a:srgbClr val="2B2B2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968496" y="4937760"/>
            <a:ext cx="173736" cy="237744"/>
          </a:xfrm>
          <a:prstGeom prst="line">
            <a:avLst/>
          </a:prstGeom>
          <a:ln w="12700">
            <a:solidFill>
              <a:srgbClr val="2B2B2B"/>
            </a:solidFill>
          </a:ln>
        </p:spPr>
        <p:style>
          <a:lnRef idx="2">
            <a:schemeClr val="accent1"/>
          </a:lnRef>
          <a:fillRef idx="0">
            <a:schemeClr val="accent1"/>
          </a:fillRef>
          <a:effectRef idx="1">
            <a:schemeClr val="accent1"/>
          </a:effectRef>
          <a:fontRef idx="minor">
            <a:schemeClr val="tx1"/>
          </a:fontRef>
        </p:style>
      </p:cxnSp>
      <p:sp>
        <p:nvSpPr>
          <p:cNvPr id="52" name="Tree 2 node"/>
          <p:cNvSpPr/>
          <p:nvPr/>
        </p:nvSpPr>
        <p:spPr>
          <a:xfrm>
            <a:off x="3877056" y="4818888"/>
            <a:ext cx="182880" cy="182880"/>
          </a:xfrm>
          <a:prstGeom prst="ellipse">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ree 2 node"/>
          <p:cNvSpPr/>
          <p:nvPr/>
        </p:nvSpPr>
        <p:spPr>
          <a:xfrm>
            <a:off x="3717036" y="5134356"/>
            <a:ext cx="155448" cy="155448"/>
          </a:xfrm>
          <a:prstGeom prst="ellipse">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ree 2 node"/>
          <p:cNvSpPr/>
          <p:nvPr/>
        </p:nvSpPr>
        <p:spPr>
          <a:xfrm>
            <a:off x="4064508" y="5134356"/>
            <a:ext cx="155448" cy="155448"/>
          </a:xfrm>
          <a:prstGeom prst="ellipse">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3255264" y="5056632"/>
            <a:ext cx="347472"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Vote 2"/>
          <p:cNvSpPr/>
          <p:nvPr/>
        </p:nvSpPr>
        <p:spPr>
          <a:xfrm>
            <a:off x="4572000" y="4828032"/>
            <a:ext cx="749808" cy="457200"/>
          </a:xfrm>
          <a:prstGeom prst="rect">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200" b="0" i="0">
                <a:solidFill>
                  <a:srgbClr val="1A1A1A"/>
                </a:solidFill>
                <a:latin typeface="Times New Roman"/>
              </a:rPr>
              <a:t>0.12</a:t>
            </a:r>
          </a:p>
        </p:txBody>
      </p:sp>
      <p:cxnSp>
        <p:nvCxnSpPr>
          <p:cNvPr id="57" name="Connector 56"/>
          <p:cNvCxnSpPr/>
          <p:nvPr/>
        </p:nvCxnSpPr>
        <p:spPr>
          <a:xfrm>
            <a:off x="4334256" y="5056632"/>
            <a:ext cx="228600"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Sample 3"/>
          <p:cNvSpPr/>
          <p:nvPr/>
        </p:nvSpPr>
        <p:spPr>
          <a:xfrm>
            <a:off x="1828800" y="5577840"/>
            <a:ext cx="1417320" cy="603504"/>
          </a:xfrm>
          <a:prstGeom prst="rect">
            <a:avLst/>
          </a:prstGeom>
          <a:no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1200" b="0" i="0">
                <a:solidFill>
                  <a:srgbClr val="1A1A1A"/>
                </a:solidFill>
                <a:latin typeface="Times New Roman"/>
              </a:rPr>
              <a:t>Bootstrap sample 300</a:t>
            </a:r>
          </a:p>
        </p:txBody>
      </p:sp>
      <p:cxnSp>
        <p:nvCxnSpPr>
          <p:cNvPr id="59" name="Connector 58"/>
          <p:cNvCxnSpPr/>
          <p:nvPr/>
        </p:nvCxnSpPr>
        <p:spPr>
          <a:xfrm>
            <a:off x="1517904" y="5029200"/>
            <a:ext cx="301752" cy="850392"/>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Tree 3 frame"/>
          <p:cNvSpPr/>
          <p:nvPr/>
        </p:nvSpPr>
        <p:spPr>
          <a:xfrm>
            <a:off x="3611880" y="5577840"/>
            <a:ext cx="713232" cy="603504"/>
          </a:xfrm>
          <a:prstGeom prst="rect">
            <a:avLst/>
          </a:prstGeom>
          <a:solidFill>
            <a:srgbClr val="DDF0E3"/>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1" name="Connector 60"/>
          <p:cNvCxnSpPr/>
          <p:nvPr/>
        </p:nvCxnSpPr>
        <p:spPr>
          <a:xfrm flipH="1">
            <a:off x="3794760" y="5760720"/>
            <a:ext cx="173736" cy="237744"/>
          </a:xfrm>
          <a:prstGeom prst="line">
            <a:avLst/>
          </a:prstGeom>
          <a:ln w="12700">
            <a:solidFill>
              <a:srgbClr val="2B2B2B"/>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968496" y="5760720"/>
            <a:ext cx="173736" cy="237744"/>
          </a:xfrm>
          <a:prstGeom prst="line">
            <a:avLst/>
          </a:prstGeom>
          <a:ln w="12700">
            <a:solidFill>
              <a:srgbClr val="2B2B2B"/>
            </a:solidFill>
          </a:ln>
        </p:spPr>
        <p:style>
          <a:lnRef idx="2">
            <a:schemeClr val="accent1"/>
          </a:lnRef>
          <a:fillRef idx="0">
            <a:schemeClr val="accent1"/>
          </a:fillRef>
          <a:effectRef idx="1">
            <a:schemeClr val="accent1"/>
          </a:effectRef>
          <a:fontRef idx="minor">
            <a:schemeClr val="tx1"/>
          </a:fontRef>
        </p:style>
      </p:cxnSp>
      <p:sp>
        <p:nvSpPr>
          <p:cNvPr id="63" name="Tree 3 node"/>
          <p:cNvSpPr/>
          <p:nvPr/>
        </p:nvSpPr>
        <p:spPr>
          <a:xfrm>
            <a:off x="3877056" y="5641848"/>
            <a:ext cx="182880" cy="182880"/>
          </a:xfrm>
          <a:prstGeom prst="ellipse">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ree 3 node"/>
          <p:cNvSpPr/>
          <p:nvPr/>
        </p:nvSpPr>
        <p:spPr>
          <a:xfrm>
            <a:off x="3717036" y="5957316"/>
            <a:ext cx="155448" cy="155448"/>
          </a:xfrm>
          <a:prstGeom prst="ellipse">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ree 3 node"/>
          <p:cNvSpPr/>
          <p:nvPr/>
        </p:nvSpPr>
        <p:spPr>
          <a:xfrm>
            <a:off x="4064508" y="5957316"/>
            <a:ext cx="155448" cy="155448"/>
          </a:xfrm>
          <a:prstGeom prst="ellipse">
            <a:avLst/>
          </a:prstGeom>
          <a:solidFill>
            <a:srgbClr val="FFFFFF"/>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6" name="Connector 65"/>
          <p:cNvCxnSpPr/>
          <p:nvPr/>
        </p:nvCxnSpPr>
        <p:spPr>
          <a:xfrm>
            <a:off x="3255264" y="5879592"/>
            <a:ext cx="347472"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7" name="Vote 3"/>
          <p:cNvSpPr/>
          <p:nvPr/>
        </p:nvSpPr>
        <p:spPr>
          <a:xfrm>
            <a:off x="4572000" y="5650992"/>
            <a:ext cx="749808" cy="457200"/>
          </a:xfrm>
          <a:prstGeom prst="rect">
            <a:avLst/>
          </a:prstGeom>
          <a:solidFill>
            <a:srgbClr val="F8DCDC"/>
          </a:solidFill>
          <a:ln w="12700">
            <a:solidFill>
              <a:srgbClr val="B5483F"/>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1200" b="1" i="0">
                <a:solidFill>
                  <a:srgbClr val="1A1A1A"/>
                </a:solidFill>
                <a:latin typeface="Times New Roman"/>
              </a:rPr>
              <a:t>0.74</a:t>
            </a:r>
          </a:p>
        </p:txBody>
      </p:sp>
      <p:cxnSp>
        <p:nvCxnSpPr>
          <p:cNvPr id="68" name="Connector 67"/>
          <p:cNvCxnSpPr/>
          <p:nvPr/>
        </p:nvCxnSpPr>
        <p:spPr>
          <a:xfrm>
            <a:off x="4334256" y="5879592"/>
            <a:ext cx="228600" cy="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More trees"/>
          <p:cNvSpPr txBox="1"/>
          <p:nvPr/>
        </p:nvSpPr>
        <p:spPr>
          <a:xfrm>
            <a:off x="3611880" y="5367528"/>
            <a:ext cx="713232" cy="201168"/>
          </a:xfrm>
          <a:prstGeom prst="rect">
            <a:avLst/>
          </a:prstGeom>
          <a:noFill/>
        </p:spPr>
        <p:txBody>
          <a:bodyPr wrap="square" lIns="0" tIns="0" rIns="0" bIns="0" anchor="ctr">
            <a:spAutoFit/>
          </a:bodyPr>
          <a:lstStyle/>
          <a:p>
            <a:pPr algn="ctr"/>
            <a:r>
              <a:rPr sz="1400" b="1" i="0">
                <a:solidFill>
                  <a:srgbClr val="1A1A1A"/>
                </a:solidFill>
                <a:latin typeface="Times New Roman"/>
              </a:rPr>
              <a:t>â‹®</a:t>
            </a:r>
          </a:p>
        </p:txBody>
      </p:sp>
      <p:sp>
        <p:nvSpPr>
          <p:cNvPr id="70" name="Average"/>
          <p:cNvSpPr/>
          <p:nvPr/>
        </p:nvSpPr>
        <p:spPr>
          <a:xfrm>
            <a:off x="5623560" y="3931920"/>
            <a:ext cx="1371600" cy="1097280"/>
          </a:xfrm>
          <a:prstGeom prst="rect">
            <a:avLst/>
          </a:prstGeom>
          <a:solidFill>
            <a:srgbClr val="FBEFC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ctr"/>
          <a:lstStyle/>
          <a:p>
            <a:pPr algn="ctr">
              <a:spcAft>
                <a:spcPts val="200"/>
              </a:spcAft>
            </a:pPr>
            <a:r>
              <a:rPr sz="1250" b="1" i="0">
                <a:solidFill>
                  <a:srgbClr val="1A1A1A"/>
                </a:solidFill>
                <a:latin typeface="Times New Roman"/>
              </a:rPr>
              <a:t>Probability</a:t>
            </a:r>
          </a:p>
          <a:p>
            <a:pPr algn="ctr"/>
            <a:r>
              <a:rPr sz="1150" b="0" i="0">
                <a:solidFill>
                  <a:srgbClr val="1A1A1A"/>
                </a:solidFill>
                <a:latin typeface="Times New Roman"/>
              </a:rPr>
              <a:t>mean of the 300 trees' leaf proportions</a:t>
            </a:r>
          </a:p>
        </p:txBody>
      </p:sp>
      <p:cxnSp>
        <p:nvCxnSpPr>
          <p:cNvPr id="71" name="Connector 70"/>
          <p:cNvCxnSpPr/>
          <p:nvPr/>
        </p:nvCxnSpPr>
        <p:spPr>
          <a:xfrm>
            <a:off x="5330952" y="4233672"/>
            <a:ext cx="283464" cy="246888"/>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5330952" y="4480560"/>
            <a:ext cx="283464" cy="576072"/>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330952" y="4480560"/>
            <a:ext cx="283464" cy="1399032"/>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309360" y="5029200"/>
            <a:ext cx="0" cy="320040"/>
          </a:xfrm>
          <a:prstGeom prst="line">
            <a:avLst/>
          </a:prstGeom>
          <a:ln w="15875">
            <a:solidFill>
              <a:srgbClr val="2B2B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Decision"/>
          <p:cNvSpPr/>
          <p:nvPr/>
        </p:nvSpPr>
        <p:spPr>
          <a:xfrm>
            <a:off x="5623560" y="5349240"/>
            <a:ext cx="1371600" cy="1005840"/>
          </a:xfrm>
          <a:prstGeom prst="rect">
            <a:avLst/>
          </a:prstGeom>
          <a:solidFill>
            <a:srgbClr val="F8DCDC"/>
          </a:solidFill>
          <a:ln w="15875">
            <a:solidFill>
              <a:srgbClr val="B5483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Aft>
                <a:spcPts val="200"/>
              </a:spcAft>
            </a:pPr>
            <a:r>
              <a:rPr sz="1300" b="1" i="0">
                <a:solidFill>
                  <a:srgbClr val="B5483F"/>
                </a:solidFill>
                <a:latin typeface="Times New Roman"/>
              </a:rPr>
              <a:t>â‰¥ 0.2302</a:t>
            </a:r>
          </a:p>
          <a:p>
            <a:pPr algn="ctr"/>
            <a:r>
              <a:rPr sz="1200" b="0" i="0">
                <a:solidFill>
                  <a:srgbClr val="1A1A1A"/>
                </a:solidFill>
                <a:latin typeface="Times New Roman"/>
              </a:rPr>
              <a:t>predict delinquent</a:t>
            </a:r>
          </a:p>
        </p:txBody>
      </p:sp>
      <p:sp>
        <p:nvSpPr>
          <p:cNvPr id="76" name="Section label"/>
          <p:cNvSpPr txBox="1"/>
          <p:nvPr/>
        </p:nvSpPr>
        <p:spPr>
          <a:xfrm>
            <a:off x="7269480" y="3547872"/>
            <a:ext cx="4462272" cy="274320"/>
          </a:xfrm>
          <a:prstGeom prst="rect">
            <a:avLst/>
          </a:prstGeom>
          <a:noFill/>
        </p:spPr>
        <p:txBody>
          <a:bodyPr wrap="square" lIns="0" tIns="0" rIns="0" bIns="0" anchor="t">
            <a:spAutoFit/>
          </a:bodyPr>
          <a:lstStyle/>
          <a:p>
            <a:pPr algn="l"/>
            <a:r>
              <a:rPr sz="1400" b="1" i="0">
                <a:solidFill>
                  <a:srgbClr val="1A1A1A"/>
                </a:solidFill>
                <a:latin typeface="Book Antiqua"/>
              </a:rPr>
              <a:t>Design choices, all decided on validation data</a:t>
            </a:r>
          </a:p>
        </p:txBody>
      </p:sp>
      <p:sp>
        <p:nvSpPr>
          <p:cNvPr id="77" name="Oval 76"/>
          <p:cNvSpPr/>
          <p:nvPr/>
        </p:nvSpPr>
        <p:spPr>
          <a:xfrm>
            <a:off x="7269480" y="3950208"/>
            <a:ext cx="384048" cy="384048"/>
          </a:xfrm>
          <a:prstGeom prst="ellipse">
            <a:avLst/>
          </a:prstGeom>
          <a:solidFill>
            <a:srgbClr val="D9E7F5"/>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01</a:t>
            </a:r>
          </a:p>
        </p:txBody>
      </p:sp>
      <p:sp>
        <p:nvSpPr>
          <p:cNvPr id="78" name="Choice 1"/>
          <p:cNvSpPr txBox="1"/>
          <p:nvPr/>
        </p:nvSpPr>
        <p:spPr>
          <a:xfrm>
            <a:off x="7772400" y="3913632"/>
            <a:ext cx="3959352" cy="621792"/>
          </a:xfrm>
          <a:prstGeom prst="rect">
            <a:avLst/>
          </a:prstGeom>
          <a:noFill/>
        </p:spPr>
        <p:txBody>
          <a:bodyPr wrap="square" lIns="0" tIns="0" rIns="0" bIns="0" anchor="t">
            <a:spAutoFit/>
          </a:bodyPr>
          <a:lstStyle/>
          <a:p>
            <a:pPr algn="l">
              <a:spcAft>
                <a:spcPts val="100"/>
              </a:spcAft>
            </a:pPr>
            <a:r>
              <a:rPr sz="1300" b="1" i="0">
                <a:solidFill>
                  <a:srgbClr val="1A1A1A"/>
                </a:solidFill>
                <a:latin typeface="Book Antiqua"/>
              </a:rPr>
              <a:t>300 trees, minimum leaf size 20</a:t>
            </a:r>
          </a:p>
          <a:p>
            <a:pPr algn="l"/>
            <a:r>
              <a:rPr sz="1200" b="0" i="0">
                <a:solidFill>
                  <a:srgbClr val="1A1A1A"/>
                </a:solidFill>
                <a:latin typeface="Times New Roman"/>
              </a:rPr>
              <a:t>Limits overfitting: validation PR-AUC 0.3820 against 0.3481 for unrestricted trees</a:t>
            </a:r>
          </a:p>
        </p:txBody>
      </p:sp>
      <p:sp>
        <p:nvSpPr>
          <p:cNvPr id="79" name="Oval 78"/>
          <p:cNvSpPr/>
          <p:nvPr/>
        </p:nvSpPr>
        <p:spPr>
          <a:xfrm>
            <a:off x="7269480" y="4590288"/>
            <a:ext cx="384048" cy="384048"/>
          </a:xfrm>
          <a:prstGeom prst="ellipse">
            <a:avLst/>
          </a:prstGeom>
          <a:solidFill>
            <a:srgbClr val="DDF0E3"/>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02</a:t>
            </a:r>
          </a:p>
        </p:txBody>
      </p:sp>
      <p:sp>
        <p:nvSpPr>
          <p:cNvPr id="80" name="Choice 2"/>
          <p:cNvSpPr txBox="1"/>
          <p:nvPr/>
        </p:nvSpPr>
        <p:spPr>
          <a:xfrm>
            <a:off x="7772400" y="4553712"/>
            <a:ext cx="3959352" cy="621792"/>
          </a:xfrm>
          <a:prstGeom prst="rect">
            <a:avLst/>
          </a:prstGeom>
          <a:noFill/>
        </p:spPr>
        <p:txBody>
          <a:bodyPr wrap="square" lIns="0" tIns="0" rIns="0" bIns="0" anchor="t">
            <a:spAutoFit/>
          </a:bodyPr>
          <a:lstStyle/>
          <a:p>
            <a:pPr algn="l">
              <a:spcAft>
                <a:spcPts val="100"/>
              </a:spcAft>
            </a:pPr>
            <a:r>
              <a:rPr sz="1300" b="1" i="0">
                <a:solidFill>
                  <a:srgbClr val="1A1A1A"/>
                </a:solidFill>
                <a:latin typeface="Book Antiqua"/>
              </a:rPr>
              <a:t>Class weighting tested, not used</a:t>
            </a:r>
          </a:p>
          <a:p>
            <a:pPr algn="l"/>
            <a:r>
              <a:rPr sz="1200" b="0" i="0">
                <a:solidFill>
                  <a:srgbClr val="1A1A1A"/>
                </a:solidFill>
                <a:latin typeface="Times New Roman"/>
              </a:rPr>
              <a:t>PR-AUC stayed near 0.3776: it only slides along the same precisionâ€“recall curve</a:t>
            </a:r>
          </a:p>
        </p:txBody>
      </p:sp>
      <p:sp>
        <p:nvSpPr>
          <p:cNvPr id="81" name="Oval 80"/>
          <p:cNvSpPr/>
          <p:nvPr/>
        </p:nvSpPr>
        <p:spPr>
          <a:xfrm>
            <a:off x="7269480" y="5230368"/>
            <a:ext cx="384048" cy="384048"/>
          </a:xfrm>
          <a:prstGeom prst="ellipse">
            <a:avLst/>
          </a:prstGeom>
          <a:solidFill>
            <a:srgbClr val="FBEFCB"/>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03</a:t>
            </a:r>
          </a:p>
        </p:txBody>
      </p:sp>
      <p:sp>
        <p:nvSpPr>
          <p:cNvPr id="82" name="Choice 3"/>
          <p:cNvSpPr txBox="1"/>
          <p:nvPr/>
        </p:nvSpPr>
        <p:spPr>
          <a:xfrm>
            <a:off x="7772400" y="5193792"/>
            <a:ext cx="3959352" cy="621792"/>
          </a:xfrm>
          <a:prstGeom prst="rect">
            <a:avLst/>
          </a:prstGeom>
          <a:noFill/>
        </p:spPr>
        <p:txBody>
          <a:bodyPr wrap="square" lIns="0" tIns="0" rIns="0" bIns="0" anchor="t">
            <a:spAutoFit/>
          </a:bodyPr>
          <a:lstStyle/>
          <a:p>
            <a:pPr algn="l">
              <a:spcAft>
                <a:spcPts val="100"/>
              </a:spcAft>
            </a:pPr>
            <a:r>
              <a:rPr sz="1300" b="1" i="0">
                <a:solidFill>
                  <a:srgbClr val="1A1A1A"/>
                </a:solidFill>
                <a:latin typeface="Book Antiqua"/>
              </a:rPr>
              <a:t>Missing-value flags added</a:t>
            </a:r>
          </a:p>
          <a:p>
            <a:pPr algn="l"/>
            <a:r>
              <a:rPr sz="1200" b="0" i="0">
                <a:solidFill>
                  <a:srgbClr val="1A1A1A"/>
                </a:solidFill>
                <a:latin typeface="Times New Roman"/>
              </a:rPr>
              <a:t>Best validation PR-AUC (0.3863). The 96/98 rows are 54.65% positive</a:t>
            </a:r>
          </a:p>
        </p:txBody>
      </p:sp>
      <p:sp>
        <p:nvSpPr>
          <p:cNvPr id="83" name="Oval 82"/>
          <p:cNvSpPr/>
          <p:nvPr/>
        </p:nvSpPr>
        <p:spPr>
          <a:xfrm>
            <a:off x="7269480" y="5870448"/>
            <a:ext cx="384048" cy="384048"/>
          </a:xfrm>
          <a:prstGeom prst="ellipse">
            <a:avLst/>
          </a:prstGeom>
          <a:solidFill>
            <a:srgbClr val="F8DCDC"/>
          </a:solidFill>
          <a:ln w="9525">
            <a:solidFill>
              <a:srgbClr val="2B2B2B"/>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i="0">
                <a:solidFill>
                  <a:srgbClr val="1A1A1A"/>
                </a:solidFill>
                <a:latin typeface="Book Antiqua"/>
              </a:rPr>
              <a:t>04</a:t>
            </a:r>
          </a:p>
        </p:txBody>
      </p:sp>
      <p:sp>
        <p:nvSpPr>
          <p:cNvPr id="84" name="Choice 4"/>
          <p:cNvSpPr txBox="1"/>
          <p:nvPr/>
        </p:nvSpPr>
        <p:spPr>
          <a:xfrm>
            <a:off x="7772400" y="5833872"/>
            <a:ext cx="3959352" cy="621792"/>
          </a:xfrm>
          <a:prstGeom prst="rect">
            <a:avLst/>
          </a:prstGeom>
          <a:noFill/>
        </p:spPr>
        <p:txBody>
          <a:bodyPr wrap="square" lIns="0" tIns="0" rIns="0" bIns="0" anchor="t">
            <a:spAutoFit/>
          </a:bodyPr>
          <a:lstStyle/>
          <a:p>
            <a:pPr algn="l">
              <a:spcAft>
                <a:spcPts val="100"/>
              </a:spcAft>
            </a:pPr>
            <a:r>
              <a:rPr sz="1300" b="1" i="0">
                <a:solidFill>
                  <a:srgbClr val="1A1A1A"/>
                </a:solidFill>
                <a:latin typeface="Book Antiqua"/>
              </a:rPr>
              <a:t>Cut-off 0.2302, not 0.50</a:t>
            </a:r>
          </a:p>
          <a:p>
            <a:pPr algn="l"/>
            <a:r>
              <a:rPr sz="1200" b="0" i="0">
                <a:solidFill>
                  <a:srgbClr val="1A1A1A"/>
                </a:solidFill>
                <a:latin typeface="Times New Roman"/>
              </a:rPr>
              <a:t>Validation F1 0.4396 held up on the test set (0.4482)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1168"/>
            <a:ext cx="11274552" cy="658368"/>
          </a:xfrm>
        </p:spPr>
        <p:txBody>
          <a:bodyPr wrap="square" lIns="0" tIns="0" rIns="0" bIns="0" anchor="ctr"/>
          <a:lstStyle/>
          <a:p>
            <a:pPr algn="ctr"/>
            <a:r>
              <a:rPr sz="3000" b="1" i="0">
                <a:solidFill>
                  <a:srgbClr val="1A1A1A"/>
                </a:solidFill>
                <a:latin typeface="Book Antiqua"/>
              </a:rPr>
              <a:t>Results and Evaluation</a:t>
            </a:r>
          </a:p>
        </p:txBody>
      </p:sp>
      <p:sp>
        <p:nvSpPr>
          <p:cNvPr id="3" name="Subtitle"/>
          <p:cNvSpPr txBox="1"/>
          <p:nvPr/>
        </p:nvSpPr>
        <p:spPr>
          <a:xfrm>
            <a:off x="457200" y="841248"/>
            <a:ext cx="11274552" cy="329184"/>
          </a:xfrm>
          <a:prstGeom prst="rect">
            <a:avLst/>
          </a:prstGeom>
          <a:noFill/>
        </p:spPr>
        <p:txBody>
          <a:bodyPr wrap="square" lIns="0" tIns="0" rIns="0" bIns="0" anchor="t">
            <a:spAutoFit/>
          </a:bodyPr>
          <a:lstStyle/>
          <a:p>
            <a:pPr algn="ctr"/>
            <a:r>
              <a:rPr sz="1500" b="0" i="1">
                <a:solidFill>
                  <a:srgbClr val="555555"/>
                </a:solidFill>
                <a:latin typeface="Times New Roman"/>
              </a:rPr>
              <a:t>Held-out test set of 30,000 borrowers, scored exactly once</a:t>
            </a:r>
          </a:p>
        </p:txBody>
      </p:sp>
      <p:sp>
        <p:nvSpPr>
          <p:cNvPr id="4" name="KPI ROC-AUC"/>
          <p:cNvSpPr/>
          <p:nvPr/>
        </p:nvSpPr>
        <p:spPr>
          <a:xfrm>
            <a:off x="457200" y="1325880"/>
            <a:ext cx="2103120" cy="1143000"/>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600" b="1" i="0">
                <a:solidFill>
                  <a:srgbClr val="2F5D8C"/>
                </a:solidFill>
                <a:latin typeface="Book Antiqua"/>
              </a:rPr>
              <a:t>0.8654</a:t>
            </a:r>
          </a:p>
          <a:p>
            <a:pPr algn="ctr"/>
            <a:r>
              <a:rPr sz="1300" b="1" i="0">
                <a:solidFill>
                  <a:srgbClr val="1A1A1A"/>
                </a:solidFill>
                <a:latin typeface="Times New Roman"/>
              </a:rPr>
              <a:t>ROC-AUC</a:t>
            </a:r>
          </a:p>
          <a:p>
            <a:pPr algn="ctr"/>
            <a:r>
              <a:rPr sz="1150" b="0" i="0">
                <a:solidFill>
                  <a:srgbClr val="555555"/>
                </a:solidFill>
                <a:latin typeface="Times New Roman"/>
              </a:rPr>
              <a:t>threshold-free</a:t>
            </a:r>
          </a:p>
        </p:txBody>
      </p:sp>
      <p:sp>
        <p:nvSpPr>
          <p:cNvPr id="5" name="KPI PR-AUC"/>
          <p:cNvSpPr/>
          <p:nvPr/>
        </p:nvSpPr>
        <p:spPr>
          <a:xfrm>
            <a:off x="2750058" y="1325880"/>
            <a:ext cx="2103120" cy="1143000"/>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600" b="1" i="0">
                <a:solidFill>
                  <a:srgbClr val="2F5D8C"/>
                </a:solidFill>
                <a:latin typeface="Book Antiqua"/>
              </a:rPr>
              <a:t>0.4014</a:t>
            </a:r>
          </a:p>
          <a:p>
            <a:pPr algn="ctr"/>
            <a:r>
              <a:rPr sz="1300" b="1" i="0">
                <a:solidFill>
                  <a:srgbClr val="1A1A1A"/>
                </a:solidFill>
                <a:latin typeface="Times New Roman"/>
              </a:rPr>
              <a:t>PR-AUC</a:t>
            </a:r>
          </a:p>
          <a:p>
            <a:pPr algn="ctr"/>
            <a:r>
              <a:rPr sz="1150" b="0" i="0">
                <a:solidFill>
                  <a:srgbClr val="555555"/>
                </a:solidFill>
                <a:latin typeface="Times New Roman"/>
              </a:rPr>
              <a:t>chance level 0.067</a:t>
            </a:r>
          </a:p>
        </p:txBody>
      </p:sp>
      <p:sp>
        <p:nvSpPr>
          <p:cNvPr id="6" name="KPI Recall"/>
          <p:cNvSpPr/>
          <p:nvPr/>
        </p:nvSpPr>
        <p:spPr>
          <a:xfrm>
            <a:off x="5042916" y="1325880"/>
            <a:ext cx="2103120" cy="1143000"/>
          </a:xfrm>
          <a:prstGeom prst="rect">
            <a:avLst/>
          </a:prstGeom>
          <a:solidFill>
            <a:srgbClr val="FBEFC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600" b="1" i="0">
                <a:solidFill>
                  <a:srgbClr val="1A1A1A"/>
                </a:solidFill>
                <a:latin typeface="Book Antiqua"/>
              </a:rPr>
              <a:t>0.4868</a:t>
            </a:r>
          </a:p>
          <a:p>
            <a:pPr algn="ctr"/>
            <a:r>
              <a:rPr sz="1300" b="1" i="0">
                <a:solidFill>
                  <a:srgbClr val="1A1A1A"/>
                </a:solidFill>
                <a:latin typeface="Times New Roman"/>
              </a:rPr>
              <a:t>Recall</a:t>
            </a:r>
          </a:p>
          <a:p>
            <a:pPr algn="ctr"/>
            <a:r>
              <a:rPr sz="1150" b="0" i="0">
                <a:solidFill>
                  <a:srgbClr val="555555"/>
                </a:solidFill>
                <a:latin typeface="Times New Roman"/>
              </a:rPr>
              <a:t>caught 976 of 2,005</a:t>
            </a:r>
          </a:p>
        </p:txBody>
      </p:sp>
      <p:sp>
        <p:nvSpPr>
          <p:cNvPr id="7" name="KPI Precision"/>
          <p:cNvSpPr/>
          <p:nvPr/>
        </p:nvSpPr>
        <p:spPr>
          <a:xfrm>
            <a:off x="7335773" y="1325880"/>
            <a:ext cx="2103120" cy="1143000"/>
          </a:xfrm>
          <a:prstGeom prst="rect">
            <a:avLst/>
          </a:prstGeom>
          <a:solidFill>
            <a:srgbClr val="FBEFC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600" b="1" i="0">
                <a:solidFill>
                  <a:srgbClr val="1A1A1A"/>
                </a:solidFill>
                <a:latin typeface="Book Antiqua"/>
              </a:rPr>
              <a:t>0.4153</a:t>
            </a:r>
          </a:p>
          <a:p>
            <a:pPr algn="ctr"/>
            <a:r>
              <a:rPr sz="1300" b="1" i="0">
                <a:solidFill>
                  <a:srgbClr val="1A1A1A"/>
                </a:solidFill>
                <a:latin typeface="Times New Roman"/>
              </a:rPr>
              <a:t>Precision</a:t>
            </a:r>
          </a:p>
          <a:p>
            <a:pPr algn="ctr"/>
            <a:r>
              <a:rPr sz="1150" b="0" i="0">
                <a:solidFill>
                  <a:srgbClr val="555555"/>
                </a:solidFill>
                <a:latin typeface="Times New Roman"/>
              </a:rPr>
              <a:t>at cut-off 0.2302</a:t>
            </a:r>
          </a:p>
        </p:txBody>
      </p:sp>
      <p:sp>
        <p:nvSpPr>
          <p:cNvPr id="8" name="KPI F1-score"/>
          <p:cNvSpPr/>
          <p:nvPr/>
        </p:nvSpPr>
        <p:spPr>
          <a:xfrm>
            <a:off x="9628632" y="1325880"/>
            <a:ext cx="2103120" cy="1143000"/>
          </a:xfrm>
          <a:prstGeom prst="rect">
            <a:avLst/>
          </a:prstGeom>
          <a:solidFill>
            <a:srgbClr val="FBEFCB"/>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600" b="1" i="0">
                <a:solidFill>
                  <a:srgbClr val="1A1A1A"/>
                </a:solidFill>
                <a:latin typeface="Book Antiqua"/>
              </a:rPr>
              <a:t>0.4482</a:t>
            </a:r>
          </a:p>
          <a:p>
            <a:pPr algn="ctr"/>
            <a:r>
              <a:rPr sz="1300" b="1" i="0">
                <a:solidFill>
                  <a:srgbClr val="1A1A1A"/>
                </a:solidFill>
                <a:latin typeface="Times New Roman"/>
              </a:rPr>
              <a:t>F1-score</a:t>
            </a:r>
          </a:p>
          <a:p>
            <a:pPr algn="ctr"/>
            <a:r>
              <a:rPr sz="1150" b="0" i="0">
                <a:solidFill>
                  <a:srgbClr val="555555"/>
                </a:solidFill>
                <a:latin typeface="Times New Roman"/>
              </a:rPr>
              <a:t>at cut-off 0.2302</a:t>
            </a:r>
          </a:p>
        </p:txBody>
      </p:sp>
      <p:sp>
        <p:nvSpPr>
          <p:cNvPr id="9" name="Section label"/>
          <p:cNvSpPr txBox="1"/>
          <p:nvPr/>
        </p:nvSpPr>
        <p:spPr>
          <a:xfrm>
            <a:off x="457200" y="2633472"/>
            <a:ext cx="3291840" cy="274320"/>
          </a:xfrm>
          <a:prstGeom prst="rect">
            <a:avLst/>
          </a:prstGeom>
          <a:noFill/>
        </p:spPr>
        <p:txBody>
          <a:bodyPr wrap="square" lIns="0" tIns="0" rIns="0" bIns="0" anchor="t">
            <a:spAutoFit/>
          </a:bodyPr>
          <a:lstStyle/>
          <a:p>
            <a:pPr algn="l"/>
            <a:r>
              <a:rPr sz="1400" b="1" i="0">
                <a:solidFill>
                  <a:srgbClr val="1A1A1A"/>
                </a:solidFill>
                <a:latin typeface="Book Antiqua"/>
              </a:rPr>
              <a:t>Confusion matrix</a:t>
            </a:r>
          </a:p>
        </p:txBody>
      </p:sp>
      <p:sp>
        <p:nvSpPr>
          <p:cNvPr id="10" name="Predicted label"/>
          <p:cNvSpPr txBox="1"/>
          <p:nvPr/>
        </p:nvSpPr>
        <p:spPr>
          <a:xfrm>
            <a:off x="1234440" y="2926080"/>
            <a:ext cx="2468880" cy="256032"/>
          </a:xfrm>
          <a:prstGeom prst="rect">
            <a:avLst/>
          </a:prstGeom>
          <a:noFill/>
        </p:spPr>
        <p:txBody>
          <a:bodyPr wrap="square" lIns="0" tIns="0" rIns="0" bIns="0" anchor="t">
            <a:spAutoFit/>
          </a:bodyPr>
          <a:lstStyle/>
          <a:p>
            <a:pPr algn="ctr"/>
            <a:r>
              <a:rPr sz="1200" b="1" i="0">
                <a:solidFill>
                  <a:srgbClr val="555555"/>
                </a:solidFill>
                <a:latin typeface="Times New Roman"/>
              </a:rPr>
              <a:t>Predicted</a:t>
            </a:r>
          </a:p>
        </p:txBody>
      </p:sp>
      <p:sp>
        <p:nvSpPr>
          <p:cNvPr id="11" name="Column header"/>
          <p:cNvSpPr txBox="1"/>
          <p:nvPr/>
        </p:nvSpPr>
        <p:spPr>
          <a:xfrm>
            <a:off x="1234440" y="3154680"/>
            <a:ext cx="1207008" cy="237744"/>
          </a:xfrm>
          <a:prstGeom prst="rect">
            <a:avLst/>
          </a:prstGeom>
          <a:noFill/>
        </p:spPr>
        <p:txBody>
          <a:bodyPr wrap="square" lIns="0" tIns="0" rIns="0" bIns="0" anchor="t">
            <a:spAutoFit/>
          </a:bodyPr>
          <a:lstStyle/>
          <a:p>
            <a:pPr algn="ctr"/>
            <a:r>
              <a:rPr sz="1150" b="0" i="0">
                <a:solidFill>
                  <a:srgbClr val="555555"/>
                </a:solidFill>
                <a:latin typeface="Times New Roman"/>
              </a:rPr>
              <a:t>not delinquent</a:t>
            </a:r>
          </a:p>
        </p:txBody>
      </p:sp>
      <p:sp>
        <p:nvSpPr>
          <p:cNvPr id="12" name="Column header"/>
          <p:cNvSpPr txBox="1"/>
          <p:nvPr/>
        </p:nvSpPr>
        <p:spPr>
          <a:xfrm>
            <a:off x="2496312" y="3154680"/>
            <a:ext cx="1207008" cy="237744"/>
          </a:xfrm>
          <a:prstGeom prst="rect">
            <a:avLst/>
          </a:prstGeom>
          <a:noFill/>
        </p:spPr>
        <p:txBody>
          <a:bodyPr wrap="square" lIns="0" tIns="0" rIns="0" bIns="0" anchor="t">
            <a:spAutoFit/>
          </a:bodyPr>
          <a:lstStyle/>
          <a:p>
            <a:pPr algn="ctr"/>
            <a:r>
              <a:rPr sz="1150" b="0" i="0">
                <a:solidFill>
                  <a:srgbClr val="555555"/>
                </a:solidFill>
                <a:latin typeface="Times New Roman"/>
              </a:rPr>
              <a:t>delinquent</a:t>
            </a:r>
          </a:p>
        </p:txBody>
      </p:sp>
      <p:sp>
        <p:nvSpPr>
          <p:cNvPr id="13" name="Cell true negatives"/>
          <p:cNvSpPr/>
          <p:nvPr/>
        </p:nvSpPr>
        <p:spPr>
          <a:xfrm>
            <a:off x="1234440" y="3429000"/>
            <a:ext cx="1207008" cy="1042415"/>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1" i="0">
                <a:solidFill>
                  <a:srgbClr val="2F5D8C"/>
                </a:solidFill>
                <a:latin typeface="Book Antiqua"/>
              </a:rPr>
              <a:t>26,621</a:t>
            </a:r>
          </a:p>
          <a:p>
            <a:pPr algn="ctr"/>
            <a:r>
              <a:rPr sz="1150" b="0" i="0">
                <a:solidFill>
                  <a:srgbClr val="1A1A1A"/>
                </a:solidFill>
                <a:latin typeface="Times New Roman"/>
              </a:rPr>
              <a:t>true negatives</a:t>
            </a:r>
          </a:p>
        </p:txBody>
      </p:sp>
      <p:sp>
        <p:nvSpPr>
          <p:cNvPr id="14" name="Cell false alarms"/>
          <p:cNvSpPr/>
          <p:nvPr/>
        </p:nvSpPr>
        <p:spPr>
          <a:xfrm>
            <a:off x="2496312" y="3429000"/>
            <a:ext cx="1207008" cy="1042415"/>
          </a:xfrm>
          <a:prstGeom prst="rect">
            <a:avLst/>
          </a:prstGeom>
          <a:solidFill>
            <a:srgbClr val="F8DCDC"/>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1" i="0">
                <a:solidFill>
                  <a:srgbClr val="B5483F"/>
                </a:solidFill>
                <a:latin typeface="Book Antiqua"/>
              </a:rPr>
              <a:t>1,374</a:t>
            </a:r>
          </a:p>
          <a:p>
            <a:pPr algn="ctr"/>
            <a:r>
              <a:rPr sz="1150" b="0" i="0">
                <a:solidFill>
                  <a:srgbClr val="1A1A1A"/>
                </a:solidFill>
                <a:latin typeface="Times New Roman"/>
              </a:rPr>
              <a:t>false alarms</a:t>
            </a:r>
          </a:p>
        </p:txBody>
      </p:sp>
      <p:sp>
        <p:nvSpPr>
          <p:cNvPr id="15" name="Cell missed"/>
          <p:cNvSpPr/>
          <p:nvPr/>
        </p:nvSpPr>
        <p:spPr>
          <a:xfrm>
            <a:off x="1234440" y="4526280"/>
            <a:ext cx="1207008" cy="1042415"/>
          </a:xfrm>
          <a:prstGeom prst="rect">
            <a:avLst/>
          </a:prstGeom>
          <a:solidFill>
            <a:srgbClr val="F8DCDC"/>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1" i="0">
                <a:solidFill>
                  <a:srgbClr val="B5483F"/>
                </a:solidFill>
                <a:latin typeface="Book Antiqua"/>
              </a:rPr>
              <a:t>1,029</a:t>
            </a:r>
          </a:p>
          <a:p>
            <a:pPr algn="ctr"/>
            <a:r>
              <a:rPr sz="1150" b="0" i="0">
                <a:solidFill>
                  <a:srgbClr val="1A1A1A"/>
                </a:solidFill>
                <a:latin typeface="Times New Roman"/>
              </a:rPr>
              <a:t>missed</a:t>
            </a:r>
          </a:p>
        </p:txBody>
      </p:sp>
      <p:sp>
        <p:nvSpPr>
          <p:cNvPr id="16" name="Cell caught"/>
          <p:cNvSpPr/>
          <p:nvPr/>
        </p:nvSpPr>
        <p:spPr>
          <a:xfrm>
            <a:off x="2496312" y="4526280"/>
            <a:ext cx="1207008" cy="1042415"/>
          </a:xfrm>
          <a:prstGeom prst="rect">
            <a:avLst/>
          </a:prstGeom>
          <a:solidFill>
            <a:srgbClr val="D9E7F5"/>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ctr"/>
            <a:r>
              <a:rPr sz="2000" b="1" i="0">
                <a:solidFill>
                  <a:srgbClr val="2F5D8C"/>
                </a:solidFill>
                <a:latin typeface="Book Antiqua"/>
              </a:rPr>
              <a:t>976</a:t>
            </a:r>
          </a:p>
          <a:p>
            <a:pPr algn="ctr"/>
            <a:r>
              <a:rPr sz="1150" b="0" i="0">
                <a:solidFill>
                  <a:srgbClr val="1A1A1A"/>
                </a:solidFill>
                <a:latin typeface="Times New Roman"/>
              </a:rPr>
              <a:t>caught</a:t>
            </a:r>
          </a:p>
        </p:txBody>
      </p:sp>
      <p:sp>
        <p:nvSpPr>
          <p:cNvPr id="17" name="Row header"/>
          <p:cNvSpPr txBox="1"/>
          <p:nvPr/>
        </p:nvSpPr>
        <p:spPr>
          <a:xfrm>
            <a:off x="457200" y="3429000"/>
            <a:ext cx="731520" cy="1042415"/>
          </a:xfrm>
          <a:prstGeom prst="rect">
            <a:avLst/>
          </a:prstGeom>
          <a:noFill/>
        </p:spPr>
        <p:txBody>
          <a:bodyPr wrap="square" lIns="0" tIns="0" rIns="0" bIns="0" anchor="ctr">
            <a:spAutoFit/>
          </a:bodyPr>
          <a:lstStyle/>
          <a:p>
            <a:pPr algn="r"/>
            <a:r>
              <a:rPr sz="1150" b="1" i="0">
                <a:solidFill>
                  <a:srgbClr val="555555"/>
                </a:solidFill>
                <a:latin typeface="Times New Roman"/>
              </a:rPr>
              <a:t>Actual</a:t>
            </a:r>
          </a:p>
          <a:p>
            <a:pPr algn="r"/>
            <a:r>
              <a:rPr sz="1150" b="0" i="0">
                <a:solidFill>
                  <a:srgbClr val="555555"/>
                </a:solidFill>
                <a:latin typeface="Times New Roman"/>
              </a:rPr>
              <a:t>not delinquent</a:t>
            </a:r>
          </a:p>
        </p:txBody>
      </p:sp>
      <p:sp>
        <p:nvSpPr>
          <p:cNvPr id="18" name="Row header"/>
          <p:cNvSpPr txBox="1"/>
          <p:nvPr/>
        </p:nvSpPr>
        <p:spPr>
          <a:xfrm>
            <a:off x="457200" y="4526280"/>
            <a:ext cx="731520" cy="1042415"/>
          </a:xfrm>
          <a:prstGeom prst="rect">
            <a:avLst/>
          </a:prstGeom>
          <a:noFill/>
        </p:spPr>
        <p:txBody>
          <a:bodyPr wrap="square" lIns="0" tIns="0" rIns="0" bIns="0" anchor="ctr">
            <a:spAutoFit/>
          </a:bodyPr>
          <a:lstStyle/>
          <a:p>
            <a:pPr algn="r"/>
            <a:r>
              <a:rPr sz="1150" b="1" i="0">
                <a:solidFill>
                  <a:srgbClr val="555555"/>
                </a:solidFill>
                <a:latin typeface="Times New Roman"/>
              </a:rPr>
              <a:t>Actual</a:t>
            </a:r>
          </a:p>
          <a:p>
            <a:pPr algn="r"/>
            <a:r>
              <a:rPr sz="1150" b="0" i="0">
                <a:solidFill>
                  <a:srgbClr val="555555"/>
                </a:solidFill>
                <a:latin typeface="Times New Roman"/>
              </a:rPr>
              <a:t>delinquent</a:t>
            </a:r>
          </a:p>
        </p:txBody>
      </p:sp>
      <p:sp>
        <p:nvSpPr>
          <p:cNvPr id="19" name="Section label"/>
          <p:cNvSpPr txBox="1"/>
          <p:nvPr/>
        </p:nvSpPr>
        <p:spPr>
          <a:xfrm>
            <a:off x="3977639" y="2633472"/>
            <a:ext cx="4206240" cy="274320"/>
          </a:xfrm>
          <a:prstGeom prst="rect">
            <a:avLst/>
          </a:prstGeom>
          <a:noFill/>
        </p:spPr>
        <p:txBody>
          <a:bodyPr wrap="square" lIns="0" tIns="0" rIns="0" bIns="0" anchor="t">
            <a:spAutoFit/>
          </a:bodyPr>
          <a:lstStyle/>
          <a:p>
            <a:pPr algn="l"/>
            <a:r>
              <a:rPr sz="1400" b="1" i="0">
                <a:solidFill>
                  <a:srgbClr val="1A1A1A"/>
                </a:solidFill>
                <a:latin typeface="Book Antiqua"/>
              </a:rPr>
              <a:t>What the forest relies on</a:t>
            </a:r>
          </a:p>
        </p:txBody>
      </p:sp>
      <p:graphicFrame>
        <p:nvGraphicFramePr>
          <p:cNvPr id="20" name="Feature importance chart"/>
          <p:cNvGraphicFramePr>
            <a:graphicFrameLocks noGrp="1"/>
          </p:cNvGraphicFramePr>
          <p:nvPr/>
        </p:nvGraphicFramePr>
        <p:xfrm>
          <a:off x="3977639" y="2907792"/>
          <a:ext cx="420624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21" name="Importance note"/>
          <p:cNvSpPr txBox="1"/>
          <p:nvPr/>
        </p:nvSpPr>
        <p:spPr>
          <a:xfrm>
            <a:off x="3977639" y="5559552"/>
            <a:ext cx="4206240" cy="274320"/>
          </a:xfrm>
          <a:prstGeom prst="rect">
            <a:avLst/>
          </a:prstGeom>
          <a:noFill/>
        </p:spPr>
        <p:txBody>
          <a:bodyPr wrap="square" lIns="0" tIns="0" rIns="0" bIns="0" anchor="t">
            <a:spAutoFit/>
          </a:bodyPr>
          <a:lstStyle/>
          <a:p>
            <a:pPr algn="l"/>
            <a:r>
              <a:rPr sz="1150" b="0" i="1">
                <a:solidFill>
                  <a:srgbClr val="555555"/>
                </a:solidFill>
                <a:latin typeface="Times New Roman"/>
              </a:rPr>
              <a:t>Payment history (red) holds 51% of importance. Not causation.</a:t>
            </a:r>
          </a:p>
        </p:txBody>
      </p:sp>
      <p:sp>
        <p:nvSpPr>
          <p:cNvPr id="22" name="Section label"/>
          <p:cNvSpPr txBox="1"/>
          <p:nvPr/>
        </p:nvSpPr>
        <p:spPr>
          <a:xfrm>
            <a:off x="8412480" y="2633472"/>
            <a:ext cx="3319272" cy="274320"/>
          </a:xfrm>
          <a:prstGeom prst="rect">
            <a:avLst/>
          </a:prstGeom>
          <a:noFill/>
        </p:spPr>
        <p:txBody>
          <a:bodyPr wrap="square" lIns="0" tIns="0" rIns="0" bIns="0" anchor="t">
            <a:spAutoFit/>
          </a:bodyPr>
          <a:lstStyle/>
          <a:p>
            <a:pPr algn="l"/>
            <a:r>
              <a:rPr sz="1400" b="1" i="0">
                <a:solidFill>
                  <a:srgbClr val="1A1A1A"/>
                </a:solidFill>
                <a:latin typeface="Book Antiqua"/>
              </a:rPr>
              <a:t>Moving the cut-off</a:t>
            </a:r>
          </a:p>
        </p:txBody>
      </p:sp>
      <p:graphicFrame>
        <p:nvGraphicFramePr>
          <p:cNvPr id="23" name="Threshold trade-off chart"/>
          <p:cNvGraphicFramePr>
            <a:graphicFrameLocks noGrp="1"/>
          </p:cNvGraphicFramePr>
          <p:nvPr/>
        </p:nvGraphicFramePr>
        <p:xfrm>
          <a:off x="8412480" y="2907792"/>
          <a:ext cx="3319272"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24" name="Threshold note"/>
          <p:cNvSpPr txBox="1"/>
          <p:nvPr/>
        </p:nvSpPr>
        <p:spPr>
          <a:xfrm>
            <a:off x="8412480" y="5559552"/>
            <a:ext cx="3319272" cy="274320"/>
          </a:xfrm>
          <a:prstGeom prst="rect">
            <a:avLst/>
          </a:prstGeom>
          <a:noFill/>
        </p:spPr>
        <p:txBody>
          <a:bodyPr wrap="square" lIns="0" tIns="0" rIns="0" bIns="0" anchor="t">
            <a:spAutoFit/>
          </a:bodyPr>
          <a:lstStyle/>
          <a:p>
            <a:pPr algn="l"/>
            <a:r>
              <a:rPr sz="1150" b="0" i="1">
                <a:solidFill>
                  <a:srgbClr val="555555"/>
                </a:solidFill>
                <a:latin typeface="Times New Roman"/>
              </a:rPr>
              <a:t>Lower cut-off: more caught, more false alarms.</a:t>
            </a:r>
          </a:p>
        </p:txBody>
      </p:sp>
      <p:sp>
        <p:nvSpPr>
          <p:cNvPr id="25" name="Takeaway"/>
          <p:cNvSpPr/>
          <p:nvPr/>
        </p:nvSpPr>
        <p:spPr>
          <a:xfrm>
            <a:off x="457200" y="5870448"/>
            <a:ext cx="11274552" cy="566928"/>
          </a:xfrm>
          <a:prstGeom prst="rect">
            <a:avLst/>
          </a:prstGeom>
          <a:solidFill>
            <a:srgbClr val="F4F4F4"/>
          </a:solidFill>
          <a:ln w="12700">
            <a:solidFill>
              <a:srgbClr val="2B2B2B"/>
            </a:solidFill>
          </a:ln>
          <a:effectLst/>
        </p:spPr>
        <p:style>
          <a:lnRef idx="1">
            <a:schemeClr val="accent1"/>
          </a:lnRef>
          <a:fillRef idx="3">
            <a:schemeClr val="accent1"/>
          </a:fillRef>
          <a:effectRef idx="2">
            <a:schemeClr val="accent1"/>
          </a:effectRef>
          <a:fontRef idx="minor">
            <a:schemeClr val="lt1"/>
          </a:fontRef>
        </p:style>
        <p:txBody>
          <a:bodyPr wrap="square" lIns="137160" tIns="36576" rIns="137160" bIns="36576" rtlCol="0" anchor="ctr"/>
          <a:lstStyle/>
          <a:p>
            <a:pPr algn="l"/>
            <a:r>
              <a:rPr sz="1250" b="1" i="0">
                <a:solidFill>
                  <a:srgbClr val="1A1A1A"/>
                </a:solidFill>
                <a:latin typeface="Times New Roman"/>
              </a:rPr>
              <a:t>Reading it: </a:t>
            </a:r>
            <a:r>
              <a:rPr sz="1250" b="0" i="0">
                <a:solidFill>
                  <a:srgbClr val="1A1A1A"/>
                </a:solidFill>
                <a:latin typeface="Times New Roman"/>
              </a:rPr>
              <a:t>accuracy (92.0%) is below the 93.3% of always answering â€œnoâ€, so PR-AUC and recall carry the result. Five-fold cross-validation agrees: ROC-AUC 0.8632 Â± 0.0053. </a:t>
            </a:r>
            <a:r>
              <a:rPr sz="1250" b="1" i="0">
                <a:solidFill>
                  <a:srgbClr val="1A1A1A"/>
                </a:solidFill>
                <a:latin typeface="Times New Roman"/>
              </a:rPr>
              <a:t>Limits: </a:t>
            </a:r>
            <a:r>
              <a:rPr sz="1250" b="0" i="0">
                <a:solidFill>
                  <a:srgbClr val="1A1A1A"/>
                </a:solidFill>
                <a:latin typeface="Times New Roman"/>
              </a:rPr>
              <a:t>2011 US data, uncalibrated probabilities, no fairness test. An educational prototype.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28C5678-A5F5-444B-9EA7-3E7D0200582A}">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763</TotalTime>
  <Words>889</Words>
  <Application>Microsoft Office PowerPoint</Application>
  <PresentationFormat>Widescreen</PresentationFormat>
  <Paragraphs>145</Paragraphs>
  <Slides>4</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Book Antiqua</vt:lpstr>
      <vt:lpstr>Bookman Old Style</vt:lpstr>
      <vt:lpstr>Calibri</vt:lpstr>
      <vt:lpstr>Times New Roman</vt:lpstr>
      <vt:lpstr>Office Theme</vt:lpstr>
      <vt:lpstr>PowerPoint Presentation</vt:lpstr>
      <vt:lpstr>Dataset and Problem</vt:lpstr>
      <vt:lpstr>Methodology and Algorithm</vt:lpstr>
      <vt:lpstr>Results and Evaluation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Win-10</dc:creator>
  <cp:lastModifiedBy>Prasad Bhalerao</cp:lastModifiedBy>
  <cp:revision>34</cp:revision>
  <dcterms:created xsi:type="dcterms:W3CDTF">2023-11-19T03:41:15Z</dcterms:created>
  <dcterms:modified xsi:type="dcterms:W3CDTF">2026-10-14T03:15:03Z</dcterms:modified>
</cp:coreProperties>
</file>